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yourself, the project name (SpendMind) and the topic of the industrial training presentation.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agenda briefly.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 the organisation details where the training / internship was carried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training / internship certificate.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tools are Python-first, with a lightweight web frontend.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learning outcomes I targeted while building SpendMind.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one-minute pitch: what problem, what input, what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the manual process with what SpendMind automates.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stage is its own module so it can be built and tested independently.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repository layout and what each folder is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extractor.py was run on the generated multi-page sample statement.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parser.py converts extracted lines into structured transaction records.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versions: v1.0 keyword rules, v1.1 ML classifier. Be clear about what is built vs planned.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layers are planned for completion before the mid-October deadline.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touchpoint and its status.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the debugging you did; it shows real engineering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where the project can go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16459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Swami Keshvanand Institute of Technology, Management &amp; Gramothan, Jaipur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1188720" y="5486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(An Autonomous Institute Affiliated to Rajasthan Technical University, Kota)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566928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60120" y="155448"/>
            <a:ext cx="7909560" cy="5029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960120" y="155448"/>
            <a:ext cx="790956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4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91440" y="4937760"/>
            <a:ext cx="1828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SKIT, JAIPUR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2377440" y="4937760"/>
            <a:ext cx="1828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www.skit.ac.in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END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566928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91440" y="4937760"/>
            <a:ext cx="1828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SKIT, JAIPUR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2377440" y="4937760"/>
            <a:ext cx="1828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www.skit.ac.in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828800" y="109728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Industrial Training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Presentation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23317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u="sng" dirty="0">
                <a:solidFill>
                  <a:schemeClr val="tx1"/>
                </a:solidFill>
              </a:rPr>
              <a:t>TOPIC:  SpendMind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35204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Submitted To: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Name:- [Faculty Name]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[Designation]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120640" y="35204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Submitted By: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Name:- Somya Roy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Roll No.:- [Your Roll No.]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960120" y="155448"/>
            <a:ext cx="7909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Index</a:t>
            </a:r>
            <a:endParaRPr lang="en-US" sz="2400" dirty="0"/>
          </a:p>
        </p:txBody>
      </p:sp>
      <p:sp>
        <p:nvSpPr>
          <p:cNvPr id="4" name="Index dot 1"/>
          <p:cNvSpPr/>
          <p:nvPr/>
        </p:nvSpPr>
        <p:spPr>
          <a:xfrm>
            <a:off x="2468880" y="96012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2468880" y="960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3017520" y="9144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Company Introduction</a:t>
            </a:r>
            <a:endParaRPr lang="en-US" sz="2200" dirty="0"/>
          </a:p>
        </p:txBody>
      </p:sp>
      <p:sp>
        <p:nvSpPr>
          <p:cNvPr id="7" name="Index dot 2"/>
          <p:cNvSpPr/>
          <p:nvPr/>
        </p:nvSpPr>
        <p:spPr>
          <a:xfrm>
            <a:off x="2468880" y="1444752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468880" y="1444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3017520" y="1399032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Certificate</a:t>
            </a:r>
            <a:endParaRPr lang="en-US" sz="2200" dirty="0"/>
          </a:p>
        </p:txBody>
      </p:sp>
      <p:sp>
        <p:nvSpPr>
          <p:cNvPr id="10" name="Index dot 3"/>
          <p:cNvSpPr/>
          <p:nvPr/>
        </p:nvSpPr>
        <p:spPr>
          <a:xfrm>
            <a:off x="2468880" y="1929384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468880" y="19293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017520" y="1883664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Technology Used</a:t>
            </a:r>
            <a:endParaRPr lang="en-US" sz="2200" dirty="0"/>
          </a:p>
        </p:txBody>
      </p:sp>
      <p:sp>
        <p:nvSpPr>
          <p:cNvPr id="13" name="Index dot 4"/>
          <p:cNvSpPr/>
          <p:nvPr/>
        </p:nvSpPr>
        <p:spPr>
          <a:xfrm>
            <a:off x="2468880" y="2414016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2468880" y="2414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017520" y="2368296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Goal of Training</a:t>
            </a:r>
            <a:endParaRPr lang="en-US" sz="2200" dirty="0"/>
          </a:p>
        </p:txBody>
      </p:sp>
      <p:sp>
        <p:nvSpPr>
          <p:cNvPr id="16" name="Index dot 5"/>
          <p:cNvSpPr/>
          <p:nvPr/>
        </p:nvSpPr>
        <p:spPr>
          <a:xfrm>
            <a:off x="2468880" y="2898648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2468880" y="2898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3017520" y="2852928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Project Overview</a:t>
            </a:r>
            <a:endParaRPr lang="en-US" sz="2200" dirty="0"/>
          </a:p>
        </p:txBody>
      </p:sp>
      <p:sp>
        <p:nvSpPr>
          <p:cNvPr id="19" name="Index dot 6"/>
          <p:cNvSpPr/>
          <p:nvPr/>
        </p:nvSpPr>
        <p:spPr>
          <a:xfrm>
            <a:off x="2468880" y="338328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2468880" y="3383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3017520" y="333756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Working Project</a:t>
            </a:r>
            <a:endParaRPr lang="en-US" sz="2200" dirty="0"/>
          </a:p>
        </p:txBody>
      </p:sp>
      <p:sp>
        <p:nvSpPr>
          <p:cNvPr id="22" name="Index dot 7"/>
          <p:cNvSpPr/>
          <p:nvPr/>
        </p:nvSpPr>
        <p:spPr>
          <a:xfrm>
            <a:off x="2468880" y="3867912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2468880" y="3867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7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3017520" y="3822192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Future Scope</a:t>
            </a:r>
            <a:endParaRPr lang="en-US" sz="2200" dirty="0"/>
          </a:p>
        </p:txBody>
      </p:sp>
      <p:sp>
        <p:nvSpPr>
          <p:cNvPr id="25" name="Index dot 8"/>
          <p:cNvSpPr/>
          <p:nvPr/>
        </p:nvSpPr>
        <p:spPr>
          <a:xfrm>
            <a:off x="2468880" y="4352544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2468880" y="43525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8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3017520" y="4306824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Q&amp;A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960120" y="155448"/>
            <a:ext cx="7909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Company Introduction</a:t>
            </a:r>
            <a:endParaRPr lang="en-US" sz="2400" dirty="0"/>
          </a:p>
        </p:txBody>
      </p:sp>
      <p:sp>
        <p:nvSpPr>
          <p:cNvPr id="4" name="Company card"/>
          <p:cNvSpPr/>
          <p:nvPr/>
        </p:nvSpPr>
        <p:spPr>
          <a:xfrm>
            <a:off x="548640" y="914400"/>
            <a:ext cx="5394960" cy="3794760"/>
          </a:xfrm>
          <a:prstGeom prst="roundRect">
            <a:avLst>
              <a:gd name="adj" fmla="val 1928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77240" y="1097280"/>
            <a:ext cx="49377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[Organisation Name]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is a [one-line description of the organisation]. Established in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[year]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, it is headquartered in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[city, state, country]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organisation works in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[domains / services]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and serves clients across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[industries / regions]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Address: [office address]</a:t>
            </a:r>
            <a:endParaRPr lang="en-US" sz="1600" dirty="0"/>
          </a:p>
        </p:txBody>
      </p:sp>
      <p:sp>
        <p:nvSpPr>
          <p:cNvPr id="6" name="Logo placeholder"/>
          <p:cNvSpPr/>
          <p:nvPr/>
        </p:nvSpPr>
        <p:spPr>
          <a:xfrm>
            <a:off x="6217920" y="914400"/>
            <a:ext cx="2377440" cy="379476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5875">
            <a:solidFill>
              <a:schemeClr val="accent4"/>
            </a:solidFill>
            <a:prstDash val="dash"/>
          </a:ln>
        </p:spPr>
      </p:sp>
      <p:sp>
        <p:nvSpPr>
          <p:cNvPr id="7" name="Text 4"/>
          <p:cNvSpPr txBox="1"/>
          <p:nvPr/>
        </p:nvSpPr>
        <p:spPr>
          <a:xfrm>
            <a:off x="6217920" y="914400"/>
            <a:ext cx="2377440" cy="3794760"/>
          </a:xfrm>
          <a:prstGeom prst="rect">
            <a:avLst/>
          </a:prstGeom>
          <a:noFill/>
          <a:ln/>
        </p:spPr>
        <p:txBody>
          <a:bodyPr wrap="square" lIns="2540" tIns="2540" rIns="2540" bIns="254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Paste company logo here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960120" y="155448"/>
            <a:ext cx="7909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Certificate</a:t>
            </a:r>
            <a:endParaRPr lang="en-US" sz="2400" dirty="0"/>
          </a:p>
        </p:txBody>
      </p:sp>
      <p:sp>
        <p:nvSpPr>
          <p:cNvPr id="4" name="Certificate placeholder"/>
          <p:cNvSpPr/>
          <p:nvPr/>
        </p:nvSpPr>
        <p:spPr>
          <a:xfrm>
            <a:off x="1737360" y="868680"/>
            <a:ext cx="5669280" cy="3931920"/>
          </a:xfrm>
          <a:prstGeom prst="roundRect">
            <a:avLst>
              <a:gd name="adj" fmla="val 1860"/>
            </a:avLst>
          </a:prstGeom>
          <a:solidFill>
            <a:schemeClr val="bg1"/>
          </a:solidFill>
          <a:ln w="15875">
            <a:solidFill>
              <a:schemeClr val="accent4"/>
            </a:solidFill>
            <a:prstDash val="dash"/>
          </a:ln>
        </p:spPr>
      </p:sp>
      <p:sp>
        <p:nvSpPr>
          <p:cNvPr id="5" name="Text 2"/>
          <p:cNvSpPr txBox="1"/>
          <p:nvPr/>
        </p:nvSpPr>
        <p:spPr>
          <a:xfrm>
            <a:off x="1737360" y="868680"/>
            <a:ext cx="5669280" cy="3931920"/>
          </a:xfrm>
          <a:prstGeom prst="rect">
            <a:avLst/>
          </a:prstGeom>
          <a:noFill/>
          <a:ln/>
        </p:spPr>
        <p:txBody>
          <a:bodyPr wrap="square" lIns="2540" tIns="2540" rIns="2540" bIns="254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accent4"/>
                </a:solidFill>
              </a:rPr>
              <a:t>Paste your training / internship certificate here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960120" y="155448"/>
            <a:ext cx="7909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Technology Stack Used</a:t>
            </a:r>
            <a:endParaRPr lang="en-US" sz="2400" dirty="0"/>
          </a:p>
        </p:txBody>
      </p:sp>
      <p:sp>
        <p:nvSpPr>
          <p:cNvPr id="4" name="Tech card Python"/>
          <p:cNvSpPr/>
          <p:nvPr/>
        </p:nvSpPr>
        <p:spPr>
          <a:xfrm>
            <a:off x="548640" y="914400"/>
            <a:ext cx="192024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/>
        </p:spPr>
      </p:sp>
      <p:sp>
        <p:nvSpPr>
          <p:cNvPr id="5" name="Icon circle"/>
          <p:cNvSpPr/>
          <p:nvPr/>
        </p:nvSpPr>
        <p:spPr>
          <a:xfrm>
            <a:off x="1234440" y="107899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2456" y="1207008"/>
            <a:ext cx="292608" cy="29260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1792" y="1719072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Python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658368" y="205740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Core language for every pipeline stage</a:t>
            </a:r>
            <a:endParaRPr lang="en-US" sz="1100" dirty="0"/>
          </a:p>
        </p:txBody>
      </p:sp>
      <p:sp>
        <p:nvSpPr>
          <p:cNvPr id="9" name="Tech card pdfplumber"/>
          <p:cNvSpPr/>
          <p:nvPr/>
        </p:nvSpPr>
        <p:spPr>
          <a:xfrm>
            <a:off x="2606040" y="914400"/>
            <a:ext cx="192024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3291840" y="107899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56" y="1207008"/>
            <a:ext cx="292608" cy="29260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679192" y="1719072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pdfplumber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2715768" y="205740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Text and table extraction from PDFs</a:t>
            </a:r>
            <a:endParaRPr lang="en-US" sz="1100" dirty="0"/>
          </a:p>
        </p:txBody>
      </p:sp>
      <p:sp>
        <p:nvSpPr>
          <p:cNvPr id="14" name="Tech card pandas"/>
          <p:cNvSpPr/>
          <p:nvPr/>
        </p:nvSpPr>
        <p:spPr>
          <a:xfrm>
            <a:off x="4663440" y="914400"/>
            <a:ext cx="192024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/>
        </p:spPr>
      </p:sp>
      <p:sp>
        <p:nvSpPr>
          <p:cNvPr id="15" name="Icon circle"/>
          <p:cNvSpPr/>
          <p:nvPr/>
        </p:nvSpPr>
        <p:spPr>
          <a:xfrm>
            <a:off x="5349240" y="107899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7256" y="1207008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736592" y="1719072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pandas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4773168" y="205740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Cleaning and aggregating transactions</a:t>
            </a:r>
            <a:endParaRPr lang="en-US" sz="1100" dirty="0"/>
          </a:p>
        </p:txBody>
      </p:sp>
      <p:sp>
        <p:nvSpPr>
          <p:cNvPr id="19" name="Tech card scikit-learn"/>
          <p:cNvSpPr/>
          <p:nvPr/>
        </p:nvSpPr>
        <p:spPr>
          <a:xfrm>
            <a:off x="6720840" y="914400"/>
            <a:ext cx="192024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/>
        </p:spPr>
      </p:sp>
      <p:sp>
        <p:nvSpPr>
          <p:cNvPr id="20" name="Icon circle"/>
          <p:cNvSpPr/>
          <p:nvPr/>
        </p:nvSpPr>
        <p:spPr>
          <a:xfrm>
            <a:off x="7406640" y="107899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656" y="1207008"/>
            <a:ext cx="292608" cy="29260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793992" y="1719072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scikit-learn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6830568" y="205740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TF-IDF + Logistic Regression classifier</a:t>
            </a:r>
            <a:endParaRPr lang="en-US" sz="1100" dirty="0"/>
          </a:p>
        </p:txBody>
      </p:sp>
      <p:sp>
        <p:nvSpPr>
          <p:cNvPr id="24" name="Tech card FastAPI"/>
          <p:cNvSpPr/>
          <p:nvPr/>
        </p:nvSpPr>
        <p:spPr>
          <a:xfrm>
            <a:off x="548640" y="2880360"/>
            <a:ext cx="192024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/>
        </p:spPr>
      </p:sp>
      <p:sp>
        <p:nvSpPr>
          <p:cNvPr id="25" name="Icon circle"/>
          <p:cNvSpPr/>
          <p:nvPr/>
        </p:nvSpPr>
        <p:spPr>
          <a:xfrm>
            <a:off x="1234440" y="304495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2456" y="3172968"/>
            <a:ext cx="292608" cy="292608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621792" y="3685032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FastAPI</a:t>
            </a:r>
            <a:endParaRPr lang="en-US" sz="1500" dirty="0"/>
          </a:p>
        </p:txBody>
      </p:sp>
      <p:sp>
        <p:nvSpPr>
          <p:cNvPr id="28" name="Text 20"/>
          <p:cNvSpPr txBox="1"/>
          <p:nvPr/>
        </p:nvSpPr>
        <p:spPr>
          <a:xfrm>
            <a:off x="658368" y="402336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REST backend for the dashboard</a:t>
            </a:r>
            <a:endParaRPr lang="en-US" sz="1100" dirty="0"/>
          </a:p>
        </p:txBody>
      </p:sp>
      <p:sp>
        <p:nvSpPr>
          <p:cNvPr id="29" name="Tech card SQLite + SQLAlchemy"/>
          <p:cNvSpPr/>
          <p:nvPr/>
        </p:nvSpPr>
        <p:spPr>
          <a:xfrm>
            <a:off x="2606040" y="2880360"/>
            <a:ext cx="192024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/>
        </p:spPr>
      </p:sp>
      <p:sp>
        <p:nvSpPr>
          <p:cNvPr id="30" name="Icon circle"/>
          <p:cNvSpPr/>
          <p:nvPr/>
        </p:nvSpPr>
        <p:spPr>
          <a:xfrm>
            <a:off x="3291840" y="304495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9856" y="3172968"/>
            <a:ext cx="292608" cy="292608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2679192" y="3685032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SQLite + SQLAlchemy</a:t>
            </a:r>
            <a:endParaRPr lang="en-US" sz="1500" dirty="0"/>
          </a:p>
        </p:txBody>
      </p:sp>
      <p:sp>
        <p:nvSpPr>
          <p:cNvPr id="33" name="Text 24"/>
          <p:cNvSpPr txBox="1"/>
          <p:nvPr/>
        </p:nvSpPr>
        <p:spPr>
          <a:xfrm>
            <a:off x="2715768" y="402336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Local storage with an ORM layer</a:t>
            </a:r>
            <a:endParaRPr lang="en-US" sz="1100" dirty="0"/>
          </a:p>
        </p:txBody>
      </p:sp>
      <p:sp>
        <p:nvSpPr>
          <p:cNvPr id="34" name="Tech card HTML / CSS / JS"/>
          <p:cNvSpPr/>
          <p:nvPr/>
        </p:nvSpPr>
        <p:spPr>
          <a:xfrm>
            <a:off x="4663440" y="2880360"/>
            <a:ext cx="192024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/>
        </p:spPr>
      </p:sp>
      <p:sp>
        <p:nvSpPr>
          <p:cNvPr id="35" name="Icon circle"/>
          <p:cNvSpPr/>
          <p:nvPr/>
        </p:nvSpPr>
        <p:spPr>
          <a:xfrm>
            <a:off x="5349240" y="304495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77256" y="3172968"/>
            <a:ext cx="292608" cy="292608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4736592" y="3685032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HTML / CSS / JS</a:t>
            </a:r>
            <a:endParaRPr lang="en-US" sz="1500" dirty="0"/>
          </a:p>
        </p:txBody>
      </p:sp>
      <p:sp>
        <p:nvSpPr>
          <p:cNvPr id="38" name="Text 28"/>
          <p:cNvSpPr txBox="1"/>
          <p:nvPr/>
        </p:nvSpPr>
        <p:spPr>
          <a:xfrm>
            <a:off x="4773168" y="402336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Vanilla frontend dashboard</a:t>
            </a:r>
            <a:endParaRPr lang="en-US" sz="1100" dirty="0"/>
          </a:p>
        </p:txBody>
      </p:sp>
      <p:sp>
        <p:nvSpPr>
          <p:cNvPr id="39" name="Tech card Git &amp; GitHub"/>
          <p:cNvSpPr/>
          <p:nvPr/>
        </p:nvSpPr>
        <p:spPr>
          <a:xfrm>
            <a:off x="6720840" y="2880360"/>
            <a:ext cx="192024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/>
        </p:spPr>
      </p:sp>
      <p:sp>
        <p:nvSpPr>
          <p:cNvPr id="40" name="Icon circle"/>
          <p:cNvSpPr/>
          <p:nvPr/>
        </p:nvSpPr>
        <p:spPr>
          <a:xfrm>
            <a:off x="7406640" y="304495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34656" y="3172968"/>
            <a:ext cx="292608" cy="292608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6793992" y="3685032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Git &amp; GitHub</a:t>
            </a:r>
            <a:endParaRPr lang="en-US" sz="1500" dirty="0"/>
          </a:p>
        </p:txBody>
      </p:sp>
      <p:sp>
        <p:nvSpPr>
          <p:cNvPr id="43" name="Text 32"/>
          <p:cNvSpPr txBox="1"/>
          <p:nvPr/>
        </p:nvSpPr>
        <p:spPr>
          <a:xfrm>
            <a:off x="6830568" y="402336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Version control and commit history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960120" y="155448"/>
            <a:ext cx="7909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Goal of Training</a:t>
            </a:r>
            <a:endParaRPr lang="en-US" sz="2400" dirty="0"/>
          </a:p>
        </p:txBody>
      </p:sp>
      <p:sp>
        <p:nvSpPr>
          <p:cNvPr id="4" name="Goal number 1"/>
          <p:cNvSpPr/>
          <p:nvPr/>
        </p:nvSpPr>
        <p:spPr>
          <a:xfrm>
            <a:off x="548640" y="10241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48640" y="1024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188720" y="91440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Data engineering pipelines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Build an end-to-end pipeline: extraction → parsing → categorization → storage.</a:t>
            </a:r>
            <a:endParaRPr lang="en-US" sz="1600" dirty="0"/>
          </a:p>
        </p:txBody>
      </p:sp>
      <p:sp>
        <p:nvSpPr>
          <p:cNvPr id="7" name="Goal number 2"/>
          <p:cNvSpPr/>
          <p:nvPr/>
        </p:nvSpPr>
        <p:spPr>
          <a:xfrm>
            <a:off x="548640" y="180136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169164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PDF &amp; text processing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Handle unstructured bank-statement PDFs using pdfplumber and pandas.</a:t>
            </a:r>
            <a:endParaRPr lang="en-US" sz="1600" dirty="0"/>
          </a:p>
        </p:txBody>
      </p:sp>
      <p:sp>
        <p:nvSpPr>
          <p:cNvPr id="10" name="Goal number 3"/>
          <p:cNvSpPr/>
          <p:nvPr/>
        </p:nvSpPr>
        <p:spPr>
          <a:xfrm>
            <a:off x="548640" y="257860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48640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246888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Applied machine learning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 NLP (TF-IDF + Logistic Regression) to categorize transaction narrations.</a:t>
            </a:r>
            <a:endParaRPr lang="en-US" sz="1600" dirty="0"/>
          </a:p>
        </p:txBody>
      </p:sp>
      <p:sp>
        <p:nvSpPr>
          <p:cNvPr id="13" name="Goal number 4"/>
          <p:cNvSpPr/>
          <p:nvPr/>
        </p:nvSpPr>
        <p:spPr>
          <a:xfrm>
            <a:off x="548640" y="335584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8640" y="3355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188720" y="324612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Backend API development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Expose results through a FastAPI backend with an SQLite database.</a:t>
            </a:r>
            <a:endParaRPr lang="en-US" sz="1600" dirty="0"/>
          </a:p>
        </p:txBody>
      </p:sp>
      <p:sp>
        <p:nvSpPr>
          <p:cNvPr id="16" name="Goal number 5"/>
          <p:cNvSpPr/>
          <p:nvPr/>
        </p:nvSpPr>
        <p:spPr>
          <a:xfrm>
            <a:off x="548640" y="413308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48640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188720" y="402336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Professional engineering practice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 Git/GitHub, virtual environments, modular code and a clean project structure.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960120" y="155448"/>
            <a:ext cx="7909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SpendMind Overview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14400"/>
            <a:ext cx="47548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SpendMind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— Financial Data Pipeline &amp; NLP-Based Transaction Categorization Engine.</a:t>
            </a:r>
            <a:endParaRPr lang="en-US" sz="15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It turns raw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bank-statement PDFs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into clean, structured,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categorized transaction data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Extracts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text and tables with pdfplumber,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parses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each line into Date, Narration, Amount and Type, then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categorizes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merchants using keyword rules and an ML classifier.</a:t>
            </a:r>
            <a:endParaRPr lang="en-US" sz="15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Results are stored in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SQLite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and served via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FastAPI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to a simple web dashboard.</a:t>
            </a:r>
            <a:endParaRPr lang="en-US" sz="1500" dirty="0"/>
          </a:p>
        </p:txBody>
      </p:sp>
      <p:sp>
        <p:nvSpPr>
          <p:cNvPr id="5" name="Overview card INPUT"/>
          <p:cNvSpPr/>
          <p:nvPr/>
        </p:nvSpPr>
        <p:spPr>
          <a:xfrm>
            <a:off x="5669280" y="914400"/>
            <a:ext cx="292608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852160" y="9144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INPUT</a:t>
            </a:r>
            <a:endParaRPr lang="en-US" sz="11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Bank statement PDF</a:t>
            </a:r>
            <a:endParaRPr lang="en-US" sz="1100" dirty="0"/>
          </a:p>
        </p:txBody>
      </p:sp>
      <p:sp>
        <p:nvSpPr>
          <p:cNvPr id="7" name="Overview card PROCESS"/>
          <p:cNvSpPr/>
          <p:nvPr/>
        </p:nvSpPr>
        <p:spPr>
          <a:xfrm>
            <a:off x="5669280" y="2240280"/>
            <a:ext cx="2926080" cy="1188720"/>
          </a:xfrm>
          <a:prstGeom prst="roundRect">
            <a:avLst>
              <a:gd name="adj" fmla="val 6154"/>
            </a:avLst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852160" y="224028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PROCESS</a:t>
            </a:r>
            <a:endParaRPr lang="en-US" sz="11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Extract → Parse → Categorize</a:t>
            </a:r>
            <a:endParaRPr lang="en-US" sz="1100" dirty="0"/>
          </a:p>
        </p:txBody>
      </p:sp>
      <p:sp>
        <p:nvSpPr>
          <p:cNvPr id="9" name="Overview card OUTPUT"/>
          <p:cNvSpPr/>
          <p:nvPr/>
        </p:nvSpPr>
        <p:spPr>
          <a:xfrm>
            <a:off x="5669280" y="3566160"/>
            <a:ext cx="292608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852160" y="356616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OUTPUT</a:t>
            </a:r>
            <a:endParaRPr lang="en-US" sz="11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Structured, categorized spending data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960120" y="155448"/>
            <a:ext cx="7909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Problem Statement &amp; Proposed Solution</a:t>
            </a:r>
            <a:endParaRPr lang="en-US" sz="2400" dirty="0"/>
          </a:p>
        </p:txBody>
      </p:sp>
      <p:sp>
        <p:nvSpPr>
          <p:cNvPr id="4" name="The Problem"/>
          <p:cNvSpPr/>
          <p:nvPr/>
        </p:nvSpPr>
        <p:spPr>
          <a:xfrm>
            <a:off x="548640" y="914400"/>
            <a:ext cx="3931920" cy="3794760"/>
          </a:xfrm>
          <a:prstGeom prst="roundRect">
            <a:avLst>
              <a:gd name="adj" fmla="val 1928"/>
            </a:avLst>
          </a:prstGeom>
          <a:solidFill>
            <a:schemeClr val="accent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77240" y="10515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The Problem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1645920"/>
            <a:ext cx="3474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Bank statements arrive as PDFs — hard to analyse directly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Manual tracking in spreadsheets is slow and error-prone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Narrations like UPI-ZOMATO-98765… are cryptic and inconsistent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No quick view of where money is actually going</a:t>
            </a:r>
            <a:endParaRPr lang="en-US" sz="1400" dirty="0"/>
          </a:p>
        </p:txBody>
      </p:sp>
      <p:sp>
        <p:nvSpPr>
          <p:cNvPr id="7" name="The SpendMind Solution"/>
          <p:cNvSpPr/>
          <p:nvPr/>
        </p:nvSpPr>
        <p:spPr>
          <a:xfrm>
            <a:off x="4663440" y="914400"/>
            <a:ext cx="3931920" cy="3794760"/>
          </a:xfrm>
          <a:prstGeom prst="roundRect">
            <a:avLst>
              <a:gd name="adj" fmla="val 1928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892040" y="10515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The SpendMind Solution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4892040" y="1645920"/>
            <a:ext cx="3474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Automatic PDF text and table extraction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Structured parsing into Date, Narration, Amount, Type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Automatic merchant-based categorization (rules → ML)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Queryable data store and a dashboard-ready API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960120" y="155448"/>
            <a:ext cx="7909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System Architecture</a:t>
            </a:r>
            <a:endParaRPr lang="en-US" sz="2400" dirty="0"/>
          </a:p>
        </p:txBody>
      </p:sp>
      <p:sp>
        <p:nvSpPr>
          <p:cNvPr id="4" name="Stage PDF Input"/>
          <p:cNvSpPr/>
          <p:nvPr/>
        </p:nvSpPr>
        <p:spPr>
          <a:xfrm>
            <a:off x="502920" y="1005840"/>
            <a:ext cx="100584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02920" y="10058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PDF Input</a:t>
            </a:r>
            <a:endParaRPr lang="en-US" sz="1200" dirty="0"/>
          </a:p>
        </p:txBody>
      </p:sp>
      <p:sp>
        <p:nvSpPr>
          <p:cNvPr id="6" name="Arrow 1"/>
          <p:cNvSpPr/>
          <p:nvPr/>
        </p:nvSpPr>
        <p:spPr>
          <a:xfrm>
            <a:off x="1508760" y="1325880"/>
            <a:ext cx="18288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7" name="Text 4"/>
          <p:cNvSpPr txBox="1"/>
          <p:nvPr/>
        </p:nvSpPr>
        <p:spPr>
          <a:xfrm>
            <a:off x="457200" y="173736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HDFC-style bank statement</a:t>
            </a:r>
            <a:endParaRPr lang="en-US" sz="1100" dirty="0"/>
          </a:p>
        </p:txBody>
      </p:sp>
      <p:sp>
        <p:nvSpPr>
          <p:cNvPr id="8" name="Status Done"/>
          <p:cNvSpPr/>
          <p:nvPr/>
        </p:nvSpPr>
        <p:spPr>
          <a:xfrm>
            <a:off x="571500" y="2606040"/>
            <a:ext cx="868680" cy="23774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71500" y="260604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Done</a:t>
            </a:r>
            <a:endParaRPr lang="en-US" sz="1000" dirty="0"/>
          </a:p>
        </p:txBody>
      </p:sp>
      <p:sp>
        <p:nvSpPr>
          <p:cNvPr id="10" name="Stage Extractor"/>
          <p:cNvSpPr/>
          <p:nvPr/>
        </p:nvSpPr>
        <p:spPr>
          <a:xfrm>
            <a:off x="1691640" y="1005840"/>
            <a:ext cx="100584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691640" y="10058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Extractor</a:t>
            </a:r>
            <a:endParaRPr lang="en-US" sz="1200" dirty="0"/>
          </a:p>
        </p:txBody>
      </p:sp>
      <p:sp>
        <p:nvSpPr>
          <p:cNvPr id="12" name="Arrow 2"/>
          <p:cNvSpPr/>
          <p:nvPr/>
        </p:nvSpPr>
        <p:spPr>
          <a:xfrm>
            <a:off x="2697480" y="1325880"/>
            <a:ext cx="18288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3" name="Text 10"/>
          <p:cNvSpPr txBox="1"/>
          <p:nvPr/>
        </p:nvSpPr>
        <p:spPr>
          <a:xfrm>
            <a:off x="1645920" y="173736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pdfplumber reads text and tables</a:t>
            </a:r>
            <a:endParaRPr lang="en-US" sz="1100" dirty="0"/>
          </a:p>
        </p:txBody>
      </p:sp>
      <p:sp>
        <p:nvSpPr>
          <p:cNvPr id="14" name="Status Done"/>
          <p:cNvSpPr/>
          <p:nvPr/>
        </p:nvSpPr>
        <p:spPr>
          <a:xfrm>
            <a:off x="1760220" y="2606040"/>
            <a:ext cx="868680" cy="23774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760220" y="260604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Done</a:t>
            </a:r>
            <a:endParaRPr lang="en-US" sz="1000" dirty="0"/>
          </a:p>
        </p:txBody>
      </p:sp>
      <p:sp>
        <p:nvSpPr>
          <p:cNvPr id="16" name="Stage Parser"/>
          <p:cNvSpPr/>
          <p:nvPr/>
        </p:nvSpPr>
        <p:spPr>
          <a:xfrm>
            <a:off x="2880360" y="1005840"/>
            <a:ext cx="100584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2880360" y="10058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Parser</a:t>
            </a:r>
            <a:endParaRPr lang="en-US" sz="1200" dirty="0"/>
          </a:p>
        </p:txBody>
      </p:sp>
      <p:sp>
        <p:nvSpPr>
          <p:cNvPr id="18" name="Arrow 3"/>
          <p:cNvSpPr/>
          <p:nvPr/>
        </p:nvSpPr>
        <p:spPr>
          <a:xfrm>
            <a:off x="3886200" y="1325880"/>
            <a:ext cx="18288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9" name="Text 16"/>
          <p:cNvSpPr txBox="1"/>
          <p:nvPr/>
        </p:nvSpPr>
        <p:spPr>
          <a:xfrm>
            <a:off x="2834640" y="173736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Lines → Date, Narration, Amount, Type</a:t>
            </a:r>
            <a:endParaRPr lang="en-US" sz="1100" dirty="0"/>
          </a:p>
        </p:txBody>
      </p:sp>
      <p:sp>
        <p:nvSpPr>
          <p:cNvPr id="20" name="Status Done"/>
          <p:cNvSpPr/>
          <p:nvPr/>
        </p:nvSpPr>
        <p:spPr>
          <a:xfrm>
            <a:off x="2948940" y="2606040"/>
            <a:ext cx="868680" cy="23774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2948940" y="260604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Done</a:t>
            </a:r>
            <a:endParaRPr lang="en-US" sz="1000" dirty="0"/>
          </a:p>
        </p:txBody>
      </p:sp>
      <p:sp>
        <p:nvSpPr>
          <p:cNvPr id="22" name="Stage Categorizer"/>
          <p:cNvSpPr/>
          <p:nvPr/>
        </p:nvSpPr>
        <p:spPr>
          <a:xfrm>
            <a:off x="4069080" y="1005840"/>
            <a:ext cx="100584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4069080" y="10058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Categorizer</a:t>
            </a:r>
            <a:endParaRPr lang="en-US" sz="1200" dirty="0"/>
          </a:p>
        </p:txBody>
      </p:sp>
      <p:sp>
        <p:nvSpPr>
          <p:cNvPr id="24" name="Arrow 4"/>
          <p:cNvSpPr/>
          <p:nvPr/>
        </p:nvSpPr>
        <p:spPr>
          <a:xfrm>
            <a:off x="5074920" y="1325880"/>
            <a:ext cx="18288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5" name="Text 22"/>
          <p:cNvSpPr txBox="1"/>
          <p:nvPr/>
        </p:nvSpPr>
        <p:spPr>
          <a:xfrm>
            <a:off x="4023360" y="173736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Keyword rules, then TF-IDF + LogReg</a:t>
            </a:r>
            <a:endParaRPr lang="en-US" sz="1100" dirty="0"/>
          </a:p>
        </p:txBody>
      </p:sp>
      <p:sp>
        <p:nvSpPr>
          <p:cNvPr id="26" name="Status Next"/>
          <p:cNvSpPr/>
          <p:nvPr/>
        </p:nvSpPr>
        <p:spPr>
          <a:xfrm>
            <a:off x="4137660" y="2606040"/>
            <a:ext cx="868680" cy="23774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4137660" y="260604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Next</a:t>
            </a:r>
            <a:endParaRPr lang="en-US" sz="1000" dirty="0"/>
          </a:p>
        </p:txBody>
      </p:sp>
      <p:sp>
        <p:nvSpPr>
          <p:cNvPr id="28" name="Stage Database"/>
          <p:cNvSpPr/>
          <p:nvPr/>
        </p:nvSpPr>
        <p:spPr>
          <a:xfrm>
            <a:off x="5257800" y="1005840"/>
            <a:ext cx="100584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257800" y="10058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Database</a:t>
            </a:r>
            <a:endParaRPr lang="en-US" sz="1200" dirty="0"/>
          </a:p>
        </p:txBody>
      </p:sp>
      <p:sp>
        <p:nvSpPr>
          <p:cNvPr id="30" name="Arrow 5"/>
          <p:cNvSpPr/>
          <p:nvPr/>
        </p:nvSpPr>
        <p:spPr>
          <a:xfrm>
            <a:off x="6263640" y="1325880"/>
            <a:ext cx="18288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31" name="Text 28"/>
          <p:cNvSpPr txBox="1"/>
          <p:nvPr/>
        </p:nvSpPr>
        <p:spPr>
          <a:xfrm>
            <a:off x="5212080" y="173736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SQLite via SQLAlchemy</a:t>
            </a:r>
            <a:endParaRPr lang="en-US" sz="1100" dirty="0"/>
          </a:p>
        </p:txBody>
      </p:sp>
      <p:sp>
        <p:nvSpPr>
          <p:cNvPr id="32" name="Status Planned"/>
          <p:cNvSpPr/>
          <p:nvPr/>
        </p:nvSpPr>
        <p:spPr>
          <a:xfrm>
            <a:off x="5326380" y="2606040"/>
            <a:ext cx="868680" cy="23774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5326380" y="260604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Planned</a:t>
            </a:r>
            <a:endParaRPr lang="en-US" sz="1000" dirty="0"/>
          </a:p>
        </p:txBody>
      </p:sp>
      <p:sp>
        <p:nvSpPr>
          <p:cNvPr id="34" name="Stage FastAPI"/>
          <p:cNvSpPr/>
          <p:nvPr/>
        </p:nvSpPr>
        <p:spPr>
          <a:xfrm>
            <a:off x="6446520" y="1005840"/>
            <a:ext cx="100584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6446520" y="10058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FastAPI</a:t>
            </a:r>
            <a:endParaRPr lang="en-US" sz="1200" dirty="0"/>
          </a:p>
        </p:txBody>
      </p:sp>
      <p:sp>
        <p:nvSpPr>
          <p:cNvPr id="36" name="Arrow 6"/>
          <p:cNvSpPr/>
          <p:nvPr/>
        </p:nvSpPr>
        <p:spPr>
          <a:xfrm>
            <a:off x="7452360" y="1325880"/>
            <a:ext cx="18288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37" name="Text 34"/>
          <p:cNvSpPr txBox="1"/>
          <p:nvPr/>
        </p:nvSpPr>
        <p:spPr>
          <a:xfrm>
            <a:off x="6400800" y="173736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REST endpoints</a:t>
            </a:r>
            <a:endParaRPr lang="en-US" sz="1100" dirty="0"/>
          </a:p>
        </p:txBody>
      </p:sp>
      <p:sp>
        <p:nvSpPr>
          <p:cNvPr id="38" name="Status Planned"/>
          <p:cNvSpPr/>
          <p:nvPr/>
        </p:nvSpPr>
        <p:spPr>
          <a:xfrm>
            <a:off x="6515100" y="2606040"/>
            <a:ext cx="868680" cy="23774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6515100" y="260604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Planned</a:t>
            </a:r>
            <a:endParaRPr lang="en-US" sz="1000" dirty="0"/>
          </a:p>
        </p:txBody>
      </p:sp>
      <p:sp>
        <p:nvSpPr>
          <p:cNvPr id="40" name="Stage Dashboard"/>
          <p:cNvSpPr/>
          <p:nvPr/>
        </p:nvSpPr>
        <p:spPr>
          <a:xfrm>
            <a:off x="7635240" y="1005840"/>
            <a:ext cx="100584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7635240" y="10058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Dashboard</a:t>
            </a:r>
            <a:endParaRPr lang="en-US" sz="1200" dirty="0"/>
          </a:p>
        </p:txBody>
      </p:sp>
      <p:sp>
        <p:nvSpPr>
          <p:cNvPr id="42" name="Text 39"/>
          <p:cNvSpPr txBox="1"/>
          <p:nvPr/>
        </p:nvSpPr>
        <p:spPr>
          <a:xfrm>
            <a:off x="7589520" y="173736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HTML / CSS / JS frontend</a:t>
            </a:r>
            <a:endParaRPr lang="en-US" sz="1100" dirty="0"/>
          </a:p>
        </p:txBody>
      </p:sp>
      <p:sp>
        <p:nvSpPr>
          <p:cNvPr id="43" name="Status Planned"/>
          <p:cNvSpPr/>
          <p:nvPr/>
        </p:nvSpPr>
        <p:spPr>
          <a:xfrm>
            <a:off x="7703820" y="2606040"/>
            <a:ext cx="868680" cy="23774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7703820" y="260604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Planned</a:t>
            </a:r>
            <a:endParaRPr lang="en-US" sz="1000" dirty="0"/>
          </a:p>
        </p:txBody>
      </p:sp>
      <p:sp>
        <p:nvSpPr>
          <p:cNvPr id="45" name="Principle Modular"/>
          <p:cNvSpPr/>
          <p:nvPr/>
        </p:nvSpPr>
        <p:spPr>
          <a:xfrm>
            <a:off x="548640" y="3200400"/>
            <a:ext cx="260604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731520" y="3200400"/>
            <a:ext cx="2240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Modular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Every stage lives in its own file and is tested on its own.</a:t>
            </a:r>
            <a:endParaRPr lang="en-US" sz="1600" dirty="0"/>
          </a:p>
        </p:txBody>
      </p:sp>
      <p:sp>
        <p:nvSpPr>
          <p:cNvPr id="47" name="Principle Reproducible"/>
          <p:cNvSpPr/>
          <p:nvPr/>
        </p:nvSpPr>
        <p:spPr>
          <a:xfrm>
            <a:off x="3264408" y="3200400"/>
            <a:ext cx="260604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3447288" y="3200400"/>
            <a:ext cx="2240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Reproducible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The sample statement PDF regenerates byte-for-byte identical.</a:t>
            </a:r>
            <a:endParaRPr lang="en-US" sz="1600" dirty="0"/>
          </a:p>
        </p:txBody>
      </p:sp>
      <p:sp>
        <p:nvSpPr>
          <p:cNvPr id="49" name="Principle Incremental"/>
          <p:cNvSpPr/>
          <p:nvPr/>
        </p:nvSpPr>
        <p:spPr>
          <a:xfrm>
            <a:off x="5980176" y="3200400"/>
            <a:ext cx="260604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6163056" y="3200400"/>
            <a:ext cx="2240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Incremental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Simple keyword rules first, ML classifier layered on after.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960120" y="155448"/>
            <a:ext cx="7909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Working Project: Code Structure</a:t>
            </a:r>
            <a:endParaRPr lang="en-US" sz="2400" dirty="0"/>
          </a:p>
        </p:txBody>
      </p:sp>
      <p:sp>
        <p:nvSpPr>
          <p:cNvPr id="4" name="Terminal"/>
          <p:cNvSpPr/>
          <p:nvPr/>
        </p:nvSpPr>
        <p:spPr>
          <a:xfrm>
            <a:off x="548640" y="914400"/>
            <a:ext cx="4206240" cy="3794760"/>
          </a:xfrm>
          <a:prstGeom prst="roundRect">
            <a:avLst>
              <a:gd name="adj" fmla="val 1928"/>
            </a:avLst>
          </a:prstGeom>
          <a:solidFill>
            <a:schemeClr val="tx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31520" y="1024128"/>
            <a:ext cx="3840480" cy="3575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spendmind/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README.md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requirements.txt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sample_data/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sample_bank_statement.pdf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src/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api/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db/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ml/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pipeline/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├── extractor.py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└── parser.py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utils/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└── generate_sample.py</a:t>
            </a:r>
            <a:endParaRPr lang="en-US" sz="1100" dirty="0"/>
          </a:p>
        </p:txBody>
      </p:sp>
      <p:sp>
        <p:nvSpPr>
          <p:cNvPr id="6" name="Module pipeline/"/>
          <p:cNvSpPr/>
          <p:nvPr/>
        </p:nvSpPr>
        <p:spPr>
          <a:xfrm>
            <a:off x="5029200" y="914400"/>
            <a:ext cx="3566160" cy="676656"/>
          </a:xfrm>
          <a:prstGeom prst="roundRect">
            <a:avLst>
              <a:gd name="adj" fmla="val 10811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212080" y="914400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pipeline/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PDF extraction and transaction parsing</a:t>
            </a:r>
            <a:endParaRPr lang="en-US" sz="1400" dirty="0"/>
          </a:p>
        </p:txBody>
      </p:sp>
      <p:sp>
        <p:nvSpPr>
          <p:cNvPr id="8" name="Module ml/"/>
          <p:cNvSpPr/>
          <p:nvPr/>
        </p:nvSpPr>
        <p:spPr>
          <a:xfrm>
            <a:off x="5029200" y="1682496"/>
            <a:ext cx="3566160" cy="676656"/>
          </a:xfrm>
          <a:prstGeom prst="roundRect">
            <a:avLst>
              <a:gd name="adj" fmla="val 10811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212080" y="1682496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ml/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Transaction categorization (rules + classifier)</a:t>
            </a:r>
            <a:endParaRPr lang="en-US" sz="1400" dirty="0"/>
          </a:p>
        </p:txBody>
      </p:sp>
      <p:sp>
        <p:nvSpPr>
          <p:cNvPr id="10" name="Module db/"/>
          <p:cNvSpPr/>
          <p:nvPr/>
        </p:nvSpPr>
        <p:spPr>
          <a:xfrm>
            <a:off x="5029200" y="2450592"/>
            <a:ext cx="3566160" cy="676656"/>
          </a:xfrm>
          <a:prstGeom prst="roundRect">
            <a:avLst>
              <a:gd name="adj" fmla="val 10811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212080" y="2450592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db/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SQLAlchemy models and SQLite storage</a:t>
            </a:r>
            <a:endParaRPr lang="en-US" sz="1400" dirty="0"/>
          </a:p>
        </p:txBody>
      </p:sp>
      <p:sp>
        <p:nvSpPr>
          <p:cNvPr id="12" name="Module api/"/>
          <p:cNvSpPr/>
          <p:nvPr/>
        </p:nvSpPr>
        <p:spPr>
          <a:xfrm>
            <a:off x="5029200" y="3218688"/>
            <a:ext cx="3566160" cy="676656"/>
          </a:xfrm>
          <a:prstGeom prst="roundRect">
            <a:avLst>
              <a:gd name="adj" fmla="val 10811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212080" y="3218688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api/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FastAPI routes serving the dashboard</a:t>
            </a:r>
            <a:endParaRPr lang="en-US" sz="1400" dirty="0"/>
          </a:p>
        </p:txBody>
      </p:sp>
      <p:sp>
        <p:nvSpPr>
          <p:cNvPr id="14" name="Module utils/"/>
          <p:cNvSpPr/>
          <p:nvPr/>
        </p:nvSpPr>
        <p:spPr>
          <a:xfrm>
            <a:off x="5029200" y="3986784"/>
            <a:ext cx="3566160" cy="676656"/>
          </a:xfrm>
          <a:prstGeom prst="roundRect">
            <a:avLst>
              <a:gd name="adj" fmla="val 10811"/>
            </a:avLst>
          </a:prstGeom>
          <a:solidFill>
            <a:schemeClr val="bg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212080" y="3986784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utils/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Sample statement PDF generator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960120" y="155448"/>
            <a:ext cx="7909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Working Project: PDF Extractor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extractor.py — reads text lines and tables from each page</a:t>
            </a:r>
            <a:endParaRPr lang="en-US" sz="1500" dirty="0"/>
          </a:p>
        </p:txBody>
      </p:sp>
      <p:sp>
        <p:nvSpPr>
          <p:cNvPr id="5" name="Terminal"/>
          <p:cNvSpPr/>
          <p:nvPr/>
        </p:nvSpPr>
        <p:spPr>
          <a:xfrm>
            <a:off x="548640" y="1371600"/>
            <a:ext cx="4846320" cy="1828800"/>
          </a:xfrm>
          <a:prstGeom prst="roundRect">
            <a:avLst>
              <a:gd name="adj" fmla="val 4000"/>
            </a:avLst>
          </a:prstGeom>
          <a:solidFill>
            <a:schemeClr val="tx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31520" y="1481328"/>
            <a:ext cx="448056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src/pipeline/extractor.py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Pages: 3   Lines: 71   Tables: 3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Columns: Date | Narration | Amount | Type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03/06/2025 UPI-ZOMATO-9876543210 420.00 Dr</a:t>
            </a:r>
            <a:endParaRPr lang="en-US" sz="1100" dirty="0"/>
          </a:p>
        </p:txBody>
      </p:sp>
      <p:sp>
        <p:nvSpPr>
          <p:cNvPr id="7" name="Stat pages"/>
          <p:cNvSpPr/>
          <p:nvPr/>
        </p:nvSpPr>
        <p:spPr>
          <a:xfrm>
            <a:off x="5623560" y="1371600"/>
            <a:ext cx="914400" cy="18288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623560" y="1444752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715000" y="2432304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pages</a:t>
            </a:r>
            <a:endParaRPr lang="en-US" sz="1200" dirty="0"/>
          </a:p>
        </p:txBody>
      </p:sp>
      <p:sp>
        <p:nvSpPr>
          <p:cNvPr id="10" name="Stat text lines"/>
          <p:cNvSpPr/>
          <p:nvPr/>
        </p:nvSpPr>
        <p:spPr>
          <a:xfrm>
            <a:off x="6629400" y="1371600"/>
            <a:ext cx="914400" cy="18288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629400" y="1444752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71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6720840" y="2432304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text lines</a:t>
            </a:r>
            <a:endParaRPr lang="en-US" sz="1200" dirty="0"/>
          </a:p>
        </p:txBody>
      </p:sp>
      <p:sp>
        <p:nvSpPr>
          <p:cNvPr id="13" name="Stat tables"/>
          <p:cNvSpPr/>
          <p:nvPr/>
        </p:nvSpPr>
        <p:spPr>
          <a:xfrm>
            <a:off x="7635240" y="1371600"/>
            <a:ext cx="960120" cy="182880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635240" y="1444752"/>
            <a:ext cx="960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7726680" y="2432304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tables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34290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Dates are DD/MM/YYYY and Type is Dr / Cr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Sample PDF holds fictional HDFC-style data across varied merchants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Extractor logic was compared across multiple implementations and merged into one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960120" y="155448"/>
            <a:ext cx="7909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Working Project: Transaction Parser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parser.py — lines in, structured transactions out</a:t>
            </a:r>
            <a:endParaRPr lang="en-US" sz="1500" dirty="0"/>
          </a:p>
        </p:txBody>
      </p:sp>
      <p:sp>
        <p:nvSpPr>
          <p:cNvPr id="5" name="Stat transactions parsed"/>
          <p:cNvSpPr/>
          <p:nvPr/>
        </p:nvSpPr>
        <p:spPr>
          <a:xfrm>
            <a:off x="548640" y="1371600"/>
            <a:ext cx="256032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1444752"/>
            <a:ext cx="256032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65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273198"/>
            <a:ext cx="2377440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transactions parsed</a:t>
            </a:r>
            <a:endParaRPr lang="en-US" sz="1200" dirty="0"/>
          </a:p>
        </p:txBody>
      </p:sp>
      <p:sp>
        <p:nvSpPr>
          <p:cNvPr id="8" name="Stat total debits"/>
          <p:cNvSpPr/>
          <p:nvPr/>
        </p:nvSpPr>
        <p:spPr>
          <a:xfrm>
            <a:off x="3291840" y="1371600"/>
            <a:ext cx="256032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291840" y="1444752"/>
            <a:ext cx="256032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₹76,193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3383280" y="2273198"/>
            <a:ext cx="2377440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total debits</a:t>
            </a:r>
            <a:endParaRPr lang="en-US" sz="1200" dirty="0"/>
          </a:p>
        </p:txBody>
      </p:sp>
      <p:sp>
        <p:nvSpPr>
          <p:cNvPr id="11" name="Stat total credits"/>
          <p:cNvSpPr/>
          <p:nvPr/>
        </p:nvSpPr>
        <p:spPr>
          <a:xfrm>
            <a:off x="6035040" y="1371600"/>
            <a:ext cx="256032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035040" y="1444752"/>
            <a:ext cx="256032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₹76,633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6126480" y="2273198"/>
            <a:ext cx="2377440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total credits</a:t>
            </a:r>
            <a:endParaRPr lang="en-US" sz="1200" dirty="0"/>
          </a:p>
        </p:txBody>
      </p:sp>
      <p:sp>
        <p:nvSpPr>
          <p:cNvPr id="14" name="Parser step 1"/>
          <p:cNvSpPr/>
          <p:nvPr/>
        </p:nvSpPr>
        <p:spPr>
          <a:xfrm>
            <a:off x="548640" y="3246120"/>
            <a:ext cx="237744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40080" y="32461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Raw line</a:t>
            </a:r>
            <a:endParaRPr lang="en-US" sz="1300" dirty="0"/>
          </a:p>
        </p:txBody>
      </p:sp>
      <p:sp>
        <p:nvSpPr>
          <p:cNvPr id="16" name="Parser arrow 1"/>
          <p:cNvSpPr/>
          <p:nvPr/>
        </p:nvSpPr>
        <p:spPr>
          <a:xfrm>
            <a:off x="2971800" y="3566160"/>
            <a:ext cx="36576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7" name="Parser step 2"/>
          <p:cNvSpPr/>
          <p:nvPr/>
        </p:nvSpPr>
        <p:spPr>
          <a:xfrm>
            <a:off x="3383280" y="3246120"/>
            <a:ext cx="237744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3474720" y="32461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Date · Narration · Amount · Type</a:t>
            </a:r>
            <a:endParaRPr lang="en-US" sz="1300" dirty="0"/>
          </a:p>
        </p:txBody>
      </p:sp>
      <p:sp>
        <p:nvSpPr>
          <p:cNvPr id="19" name="Parser arrow 2"/>
          <p:cNvSpPr/>
          <p:nvPr/>
        </p:nvSpPr>
        <p:spPr>
          <a:xfrm>
            <a:off x="5806440" y="3566160"/>
            <a:ext cx="36576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0" name="Parser step 3"/>
          <p:cNvSpPr/>
          <p:nvPr/>
        </p:nvSpPr>
        <p:spPr>
          <a:xfrm>
            <a:off x="6217920" y="3246120"/>
            <a:ext cx="237744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309360" y="32461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Debit / Credit totals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Each parsed record feeds the categorization engine in the next stage.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960120" y="155448"/>
            <a:ext cx="7909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Working Project: Categorization Engine</a:t>
            </a:r>
            <a:endParaRPr lang="en-US" sz="2400" dirty="0"/>
          </a:p>
        </p:txBody>
      </p:sp>
      <p:sp>
        <p:nvSpPr>
          <p:cNvPr id="4" name="Version 1"/>
          <p:cNvSpPr/>
          <p:nvPr/>
        </p:nvSpPr>
        <p:spPr>
          <a:xfrm>
            <a:off x="548640" y="914400"/>
            <a:ext cx="393192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31520" y="10058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v1.0 — Keyword Rules</a:t>
            </a:r>
            <a:endParaRPr lang="en-US" sz="1600" dirty="0"/>
          </a:p>
        </p:txBody>
      </p:sp>
      <p:sp>
        <p:nvSpPr>
          <p:cNvPr id="6" name="Status Next"/>
          <p:cNvSpPr/>
          <p:nvPr/>
        </p:nvSpPr>
        <p:spPr>
          <a:xfrm>
            <a:off x="731520" y="1508760"/>
            <a:ext cx="868680" cy="23774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31520" y="150876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Next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187452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Match merchant keywords in the narration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e.g. ZOMATO → Food &amp; Dining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Fast, transparent baseline with no training data needed</a:t>
            </a:r>
            <a:endParaRPr lang="en-US" sz="1400" dirty="0"/>
          </a:p>
        </p:txBody>
      </p:sp>
      <p:sp>
        <p:nvSpPr>
          <p:cNvPr id="9" name="Version 2"/>
          <p:cNvSpPr/>
          <p:nvPr/>
        </p:nvSpPr>
        <p:spPr>
          <a:xfrm>
            <a:off x="4663440" y="914400"/>
            <a:ext cx="393192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846320" y="10058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v1.1 — TF-IDF + Logistic Regression</a:t>
            </a:r>
            <a:endParaRPr lang="en-US" sz="1600" dirty="0"/>
          </a:p>
        </p:txBody>
      </p:sp>
      <p:sp>
        <p:nvSpPr>
          <p:cNvPr id="11" name="Status Planned"/>
          <p:cNvSpPr/>
          <p:nvPr/>
        </p:nvSpPr>
        <p:spPr>
          <a:xfrm>
            <a:off x="4846320" y="1508760"/>
            <a:ext cx="868680" cy="23774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846320" y="150876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Planned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4846320" y="187452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TF-IDF turns narrations into numeric features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Logistic Regression predicts the category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Handles merchants the rules have never seen</a:t>
            </a:r>
            <a:endParaRPr lang="en-US" sz="1400" dirty="0"/>
          </a:p>
        </p:txBody>
      </p:sp>
      <p:sp>
        <p:nvSpPr>
          <p:cNvPr id="14" name="ML step 1"/>
          <p:cNvSpPr/>
          <p:nvPr/>
        </p:nvSpPr>
        <p:spPr>
          <a:xfrm>
            <a:off x="548640" y="3931920"/>
            <a:ext cx="1371600" cy="594360"/>
          </a:xfrm>
          <a:prstGeom prst="roundRect">
            <a:avLst>
              <a:gd name="adj" fmla="val 12308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39319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Narration text</a:t>
            </a:r>
            <a:endParaRPr lang="en-US" sz="1200" dirty="0"/>
          </a:p>
        </p:txBody>
      </p:sp>
      <p:sp>
        <p:nvSpPr>
          <p:cNvPr id="16" name="ML arrow 1"/>
          <p:cNvSpPr/>
          <p:nvPr/>
        </p:nvSpPr>
        <p:spPr>
          <a:xfrm>
            <a:off x="1920240" y="4224528"/>
            <a:ext cx="27432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7" name="ML step 2"/>
          <p:cNvSpPr/>
          <p:nvPr/>
        </p:nvSpPr>
        <p:spPr>
          <a:xfrm>
            <a:off x="2194560" y="3931920"/>
            <a:ext cx="1371600" cy="594360"/>
          </a:xfrm>
          <a:prstGeom prst="roundRect">
            <a:avLst>
              <a:gd name="adj" fmla="val 12308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194560" y="39319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Clean / tokenize</a:t>
            </a:r>
            <a:endParaRPr lang="en-US" sz="1200" dirty="0"/>
          </a:p>
        </p:txBody>
      </p:sp>
      <p:sp>
        <p:nvSpPr>
          <p:cNvPr id="19" name="ML arrow 2"/>
          <p:cNvSpPr/>
          <p:nvPr/>
        </p:nvSpPr>
        <p:spPr>
          <a:xfrm>
            <a:off x="3566160" y="4224528"/>
            <a:ext cx="27432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0" name="ML step 3"/>
          <p:cNvSpPr/>
          <p:nvPr/>
        </p:nvSpPr>
        <p:spPr>
          <a:xfrm>
            <a:off x="3840480" y="3931920"/>
            <a:ext cx="1371600" cy="594360"/>
          </a:xfrm>
          <a:prstGeom prst="roundRect">
            <a:avLst>
              <a:gd name="adj" fmla="val 12308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840480" y="39319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TF-IDF vectors</a:t>
            </a:r>
            <a:endParaRPr lang="en-US" sz="1200" dirty="0"/>
          </a:p>
        </p:txBody>
      </p:sp>
      <p:sp>
        <p:nvSpPr>
          <p:cNvPr id="22" name="ML arrow 3"/>
          <p:cNvSpPr/>
          <p:nvPr/>
        </p:nvSpPr>
        <p:spPr>
          <a:xfrm>
            <a:off x="5212080" y="4224528"/>
            <a:ext cx="27432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3" name="ML step 4"/>
          <p:cNvSpPr/>
          <p:nvPr/>
        </p:nvSpPr>
        <p:spPr>
          <a:xfrm>
            <a:off x="5486400" y="3931920"/>
            <a:ext cx="1371600" cy="594360"/>
          </a:xfrm>
          <a:prstGeom prst="roundRect">
            <a:avLst>
              <a:gd name="adj" fmla="val 12308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486400" y="39319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Classifier</a:t>
            </a:r>
            <a:endParaRPr lang="en-US" sz="1200" dirty="0"/>
          </a:p>
        </p:txBody>
      </p:sp>
      <p:sp>
        <p:nvSpPr>
          <p:cNvPr id="25" name="ML arrow 4"/>
          <p:cNvSpPr/>
          <p:nvPr/>
        </p:nvSpPr>
        <p:spPr>
          <a:xfrm>
            <a:off x="6858000" y="4224528"/>
            <a:ext cx="27432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6" name="ML step 5"/>
          <p:cNvSpPr/>
          <p:nvPr/>
        </p:nvSpPr>
        <p:spPr>
          <a:xfrm>
            <a:off x="7132320" y="3931920"/>
            <a:ext cx="1371600" cy="594360"/>
          </a:xfrm>
          <a:prstGeom prst="roundRect">
            <a:avLst>
              <a:gd name="adj" fmla="val 12308"/>
            </a:avLst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132320" y="39319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Category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960120" y="155448"/>
            <a:ext cx="7909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Working Project: Storage, API &amp; Dashboard</a:t>
            </a:r>
            <a:endParaRPr lang="en-US" sz="2400" dirty="0"/>
          </a:p>
        </p:txBody>
      </p:sp>
      <p:sp>
        <p:nvSpPr>
          <p:cNvPr id="4" name="Layer Database"/>
          <p:cNvSpPr/>
          <p:nvPr/>
        </p:nvSpPr>
        <p:spPr>
          <a:xfrm>
            <a:off x="548640" y="914400"/>
            <a:ext cx="2606040" cy="37947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5" name="Layer icon circle"/>
          <p:cNvSpPr/>
          <p:nvPr/>
        </p:nvSpPr>
        <p:spPr>
          <a:xfrm>
            <a:off x="1572768" y="10972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0784" y="1225296"/>
            <a:ext cx="292608" cy="29260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0080" y="17830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Database</a:t>
            </a:r>
            <a:endParaRPr lang="en-US" sz="1600" dirty="0"/>
          </a:p>
        </p:txBody>
      </p:sp>
      <p:sp>
        <p:nvSpPr>
          <p:cNvPr id="8" name="Status Planned"/>
          <p:cNvSpPr/>
          <p:nvPr/>
        </p:nvSpPr>
        <p:spPr>
          <a:xfrm>
            <a:off x="1417320" y="2240280"/>
            <a:ext cx="868680" cy="23774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1417320" y="22402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Planned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31520" y="265176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SQLite with SQLAlchemy models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Stores date, narration, amount, type and category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Single local file, no server setup</a:t>
            </a:r>
            <a:endParaRPr lang="en-US" sz="1300" dirty="0"/>
          </a:p>
        </p:txBody>
      </p:sp>
      <p:sp>
        <p:nvSpPr>
          <p:cNvPr id="11" name="Layer FastAPI Backend"/>
          <p:cNvSpPr/>
          <p:nvPr/>
        </p:nvSpPr>
        <p:spPr>
          <a:xfrm>
            <a:off x="3282696" y="914400"/>
            <a:ext cx="2606040" cy="37947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12" name="Layer icon circle"/>
          <p:cNvSpPr/>
          <p:nvPr/>
        </p:nvSpPr>
        <p:spPr>
          <a:xfrm>
            <a:off x="4306824" y="10972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225296"/>
            <a:ext cx="292608" cy="29260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374136" y="17830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FastAPI Backend</a:t>
            </a:r>
            <a:endParaRPr lang="en-US" sz="1600" dirty="0"/>
          </a:p>
        </p:txBody>
      </p:sp>
      <p:sp>
        <p:nvSpPr>
          <p:cNvPr id="15" name="Status Planned"/>
          <p:cNvSpPr/>
          <p:nvPr/>
        </p:nvSpPr>
        <p:spPr>
          <a:xfrm>
            <a:off x="4151376" y="2240280"/>
            <a:ext cx="868680" cy="23774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4151376" y="22402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Planned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3465576" y="265176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Upload and process a statement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Fetch stored transactions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Spending summary by category</a:t>
            </a:r>
            <a:endParaRPr lang="en-US" sz="1300" dirty="0"/>
          </a:p>
        </p:txBody>
      </p:sp>
      <p:sp>
        <p:nvSpPr>
          <p:cNvPr id="18" name="Layer Web Dashboard"/>
          <p:cNvSpPr/>
          <p:nvPr/>
        </p:nvSpPr>
        <p:spPr>
          <a:xfrm>
            <a:off x="6016752" y="914400"/>
            <a:ext cx="2606040" cy="37947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19" name="Layer icon circle"/>
          <p:cNvSpPr/>
          <p:nvPr/>
        </p:nvSpPr>
        <p:spPr>
          <a:xfrm>
            <a:off x="7040880" y="10972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8896" y="1225296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108192" y="17830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Web Dashboard</a:t>
            </a:r>
            <a:endParaRPr lang="en-US" sz="1600" dirty="0"/>
          </a:p>
        </p:txBody>
      </p:sp>
      <p:sp>
        <p:nvSpPr>
          <p:cNvPr id="22" name="Status Planned"/>
          <p:cNvSpPr/>
          <p:nvPr/>
        </p:nvSpPr>
        <p:spPr>
          <a:xfrm>
            <a:off x="6885432" y="2240280"/>
            <a:ext cx="868680" cy="23774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23" name="Text 17"/>
          <p:cNvSpPr txBox="1"/>
          <p:nvPr/>
        </p:nvSpPr>
        <p:spPr>
          <a:xfrm>
            <a:off x="6885432" y="22402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Planned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6199632" y="265176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Vanilla HTML / CSS / JS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Reuses the UI from an earlier Java MVP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Re-pointed to the new Python backend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960120" y="155448"/>
            <a:ext cx="7909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Development Progress</a:t>
            </a:r>
            <a:endParaRPr lang="en-US" sz="2400" dirty="0"/>
          </a:p>
        </p:txBody>
      </p:sp>
      <p:sp>
        <p:nvSpPr>
          <p:cNvPr id="4" name="Timeline line"/>
          <p:cNvSpPr/>
          <p:nvPr/>
        </p:nvSpPr>
        <p:spPr>
          <a:xfrm>
            <a:off x="914400" y="1463040"/>
            <a:ext cx="731520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5" name="Timeline node 1"/>
          <p:cNvSpPr/>
          <p:nvPr/>
        </p:nvSpPr>
        <p:spPr>
          <a:xfrm>
            <a:off x="685800" y="123444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8580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228600" y="1874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Setup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228600" y="22402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Environment, repo, folder structure, sample PDF</a:t>
            </a:r>
            <a:endParaRPr lang="en-US" sz="1100" dirty="0"/>
          </a:p>
        </p:txBody>
      </p:sp>
      <p:sp>
        <p:nvSpPr>
          <p:cNvPr id="9" name="Status Done"/>
          <p:cNvSpPr/>
          <p:nvPr/>
        </p:nvSpPr>
        <p:spPr>
          <a:xfrm>
            <a:off x="480060" y="3108960"/>
            <a:ext cx="868680" cy="23774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80060" y="310896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Done</a:t>
            </a:r>
            <a:endParaRPr lang="en-US" sz="1000" dirty="0"/>
          </a:p>
        </p:txBody>
      </p:sp>
      <p:sp>
        <p:nvSpPr>
          <p:cNvPr id="11" name="Timeline node 2"/>
          <p:cNvSpPr/>
          <p:nvPr/>
        </p:nvSpPr>
        <p:spPr>
          <a:xfrm>
            <a:off x="2148840" y="123444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21488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691640" y="1874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Extractor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691640" y="22402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pdfplumber text and table extraction</a:t>
            </a:r>
            <a:endParaRPr lang="en-US" sz="1100" dirty="0"/>
          </a:p>
        </p:txBody>
      </p:sp>
      <p:sp>
        <p:nvSpPr>
          <p:cNvPr id="15" name="Status Done"/>
          <p:cNvSpPr/>
          <p:nvPr/>
        </p:nvSpPr>
        <p:spPr>
          <a:xfrm>
            <a:off x="1943100" y="3108960"/>
            <a:ext cx="868680" cy="23774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943100" y="310896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Done</a:t>
            </a:r>
            <a:endParaRPr lang="en-US" sz="1000" dirty="0"/>
          </a:p>
        </p:txBody>
      </p:sp>
      <p:sp>
        <p:nvSpPr>
          <p:cNvPr id="17" name="Timeline node 3"/>
          <p:cNvSpPr/>
          <p:nvPr/>
        </p:nvSpPr>
        <p:spPr>
          <a:xfrm>
            <a:off x="3611880" y="123444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361188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3154680" y="1874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Parser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154680" y="22402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65 transactions parsed</a:t>
            </a:r>
            <a:endParaRPr lang="en-US" sz="1100" dirty="0"/>
          </a:p>
        </p:txBody>
      </p:sp>
      <p:sp>
        <p:nvSpPr>
          <p:cNvPr id="21" name="Status Done"/>
          <p:cNvSpPr/>
          <p:nvPr/>
        </p:nvSpPr>
        <p:spPr>
          <a:xfrm>
            <a:off x="3406140" y="3108960"/>
            <a:ext cx="868680" cy="23774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3406140" y="310896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Done</a:t>
            </a:r>
            <a:endParaRPr lang="en-US" sz="1000" dirty="0"/>
          </a:p>
        </p:txBody>
      </p:sp>
      <p:sp>
        <p:nvSpPr>
          <p:cNvPr id="23" name="Timeline node 4"/>
          <p:cNvSpPr/>
          <p:nvPr/>
        </p:nvSpPr>
        <p:spPr>
          <a:xfrm>
            <a:off x="5074920" y="1234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07492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4617720" y="1874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Categorizer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4617720" y="22402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Rules, then ML classifier</a:t>
            </a:r>
            <a:endParaRPr lang="en-US" sz="1100" dirty="0"/>
          </a:p>
        </p:txBody>
      </p:sp>
      <p:sp>
        <p:nvSpPr>
          <p:cNvPr id="27" name="Status Next"/>
          <p:cNvSpPr/>
          <p:nvPr/>
        </p:nvSpPr>
        <p:spPr>
          <a:xfrm>
            <a:off x="4869180" y="3108960"/>
            <a:ext cx="868680" cy="23774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4869180" y="310896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Next</a:t>
            </a:r>
            <a:endParaRPr lang="en-US" sz="1000" dirty="0"/>
          </a:p>
        </p:txBody>
      </p:sp>
      <p:sp>
        <p:nvSpPr>
          <p:cNvPr id="29" name="Timeline node 5"/>
          <p:cNvSpPr/>
          <p:nvPr/>
        </p:nvSpPr>
        <p:spPr>
          <a:xfrm>
            <a:off x="6537960" y="123444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53796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6080760" y="1874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DB + API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6080760" y="22402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SQLAlchemy models, FastAPI routes</a:t>
            </a:r>
            <a:endParaRPr lang="en-US" sz="1100" dirty="0"/>
          </a:p>
        </p:txBody>
      </p:sp>
      <p:sp>
        <p:nvSpPr>
          <p:cNvPr id="33" name="Status Planned"/>
          <p:cNvSpPr/>
          <p:nvPr/>
        </p:nvSpPr>
        <p:spPr>
          <a:xfrm>
            <a:off x="6332220" y="3108960"/>
            <a:ext cx="868680" cy="23774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6332220" y="310896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Planned</a:t>
            </a:r>
            <a:endParaRPr lang="en-US" sz="1000" dirty="0"/>
          </a:p>
        </p:txBody>
      </p:sp>
      <p:sp>
        <p:nvSpPr>
          <p:cNvPr id="35" name="Timeline node 6"/>
          <p:cNvSpPr/>
          <p:nvPr/>
        </p:nvSpPr>
        <p:spPr>
          <a:xfrm>
            <a:off x="8001000" y="123444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800100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7543800" y="1874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Dashboard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7543800" y="22402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Frontend wired to backend</a:t>
            </a:r>
            <a:endParaRPr lang="en-US" sz="1100" dirty="0"/>
          </a:p>
        </p:txBody>
      </p:sp>
      <p:sp>
        <p:nvSpPr>
          <p:cNvPr id="39" name="Status Planned"/>
          <p:cNvSpPr/>
          <p:nvPr/>
        </p:nvSpPr>
        <p:spPr>
          <a:xfrm>
            <a:off x="7795260" y="3108960"/>
            <a:ext cx="868680" cy="23774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7795260" y="310896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Planned</a:t>
            </a:r>
            <a:endParaRPr lang="en-US" sz="1000" dirty="0"/>
          </a:p>
        </p:txBody>
      </p:sp>
      <p:sp>
        <p:nvSpPr>
          <p:cNvPr id="41" name="Deadline card"/>
          <p:cNvSpPr/>
          <p:nvPr/>
        </p:nvSpPr>
        <p:spPr>
          <a:xfrm>
            <a:off x="548640" y="3749040"/>
            <a:ext cx="804672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777240" y="374904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Target completion: mid-October 2026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Code and commit history: github.com/Missroy1905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960120" y="155448"/>
            <a:ext cx="7909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Challenges &amp; Solutions</a:t>
            </a:r>
            <a:endParaRPr lang="en-US" sz="2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14400"/>
          <a:ext cx="804672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4114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was resolved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PowerShell blocked virtual-environment activation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Adjusted the execution policy so the venv could run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Unicode font encoding error in the sample PDF generator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font handling so the statement renders correctly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 PDF output on every regeneration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Pinned the PDF creation date for byte-identical output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permission issue from the Windows global config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project-level credentials and pushed to GitHub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Several competing extractor implementations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Compared them and merged the best parts into one tested module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960120" y="155448"/>
            <a:ext cx="7909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Future Scope</a:t>
            </a:r>
            <a:endParaRPr lang="en-US" sz="2400" dirty="0"/>
          </a:p>
        </p:txBody>
      </p:sp>
      <p:sp>
        <p:nvSpPr>
          <p:cNvPr id="4" name="Future number 1"/>
          <p:cNvSpPr/>
          <p:nvPr/>
        </p:nvSpPr>
        <p:spPr>
          <a:xfrm>
            <a:off x="548640" y="10241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48640" y="1024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188720" y="91440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Multi-bank support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Handle statement formats from more banks, not just one layout.</a:t>
            </a:r>
            <a:endParaRPr lang="en-US" sz="1800" dirty="0"/>
          </a:p>
        </p:txBody>
      </p:sp>
      <p:sp>
        <p:nvSpPr>
          <p:cNvPr id="7" name="Future number 2"/>
          <p:cNvSpPr/>
          <p:nvPr/>
        </p:nvSpPr>
        <p:spPr>
          <a:xfrm>
            <a:off x="548640" y="180136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169164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Smarter categorization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Train on larger labelled data and learn from user corrections.</a:t>
            </a:r>
            <a:endParaRPr lang="en-US" sz="1800" dirty="0"/>
          </a:p>
        </p:txBody>
      </p:sp>
      <p:sp>
        <p:nvSpPr>
          <p:cNvPr id="10" name="Future number 3"/>
          <p:cNvSpPr/>
          <p:nvPr/>
        </p:nvSpPr>
        <p:spPr>
          <a:xfrm>
            <a:off x="548640" y="257860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48640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246888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Insights &amp; alerts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Monthly trends, budget limits and unusual-spend detection.</a:t>
            </a:r>
            <a:endParaRPr lang="en-US" sz="1800" dirty="0"/>
          </a:p>
        </p:txBody>
      </p:sp>
      <p:sp>
        <p:nvSpPr>
          <p:cNvPr id="13" name="Future number 4"/>
          <p:cNvSpPr/>
          <p:nvPr/>
        </p:nvSpPr>
        <p:spPr>
          <a:xfrm>
            <a:off x="548640" y="335584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8640" y="3355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188720" y="324612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Users &amp; deployment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Authentication, multi-user support and cloud hosting.</a:t>
            </a:r>
            <a:endParaRPr lang="en-US" sz="1800" dirty="0"/>
          </a:p>
        </p:txBody>
      </p:sp>
      <p:sp>
        <p:nvSpPr>
          <p:cNvPr id="16" name="Future number 5"/>
          <p:cNvSpPr/>
          <p:nvPr/>
        </p:nvSpPr>
        <p:spPr>
          <a:xfrm>
            <a:off x="548640" y="413308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48640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188720" y="402336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Reports &amp; export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Downloadable summaries as CSV or PDF.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64592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chemeClr val="accent1"/>
                </a:solidFill>
              </a:rPr>
              <a:t>Q &amp; A</a:t>
            </a:r>
            <a:endParaRPr lang="en-US" sz="7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46304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chemeClr val="accent1"/>
                </a:solidFill>
              </a:rPr>
              <a:t>Thank You</a:t>
            </a:r>
            <a:endParaRPr lang="en-US" sz="66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Somya Roy  ·  github.com/Missroy1905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KIT ITR">
  <a:themeElements>
    <a:clrScheme name="SKIT ITR">
      <a:dk1>
        <a:srgbClr val="111111"/>
      </a:dk1>
      <a:lt1>
        <a:srgbClr val="FFFFFF"/>
      </a:lt1>
      <a:dk2>
        <a:srgbClr val="7A0000"/>
      </a:dk2>
      <a:lt2>
        <a:srgbClr val="F3F0EE"/>
      </a:lt2>
      <a:accent1>
        <a:srgbClr val="C00000"/>
      </a:accent1>
      <a:accent2>
        <a:srgbClr val="7A0000"/>
      </a:accent2>
      <a:accent3>
        <a:srgbClr val="2E7D32"/>
      </a:accent3>
      <a:accent4>
        <a:srgbClr val="666666"/>
      </a:accent4>
      <a:accent5>
        <a:srgbClr val="E9C6C6"/>
      </a:accent5>
      <a:accent6>
        <a:srgbClr val="1F3A93"/>
      </a:accent6>
      <a:hlink>
        <a:srgbClr val="1F3A93"/>
      </a:hlink>
      <a:folHlink>
        <a:srgbClr val="666666"/>
      </a:folHlink>
    </a:clrScheme>
    <a:fontScheme name="SKIT ITR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SpendMind - Industrial Training Presentation</dc:title>
  <dc:subject>PptxGenJS Presentation</dc:subject>
  <dc:creator>Somya Roy</dc:creator>
  <cp:lastModifiedBy>Somya Roy</cp:lastModifiedBy>
  <cp:revision>1</cp:revision>
  <dcterms:created xsi:type="dcterms:W3CDTF">2026-10-09T08:29:46Z</dcterms:created>
  <dcterms:modified xsi:type="dcterms:W3CDTF">2026-10-09T08:29:46Z</dcterms:modified>
</cp:coreProperties>
</file>