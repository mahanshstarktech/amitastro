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411480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●  INDUSTRIAL TRAINING PRESENTATION (ITR)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D1D1F"/>
                </a:solidFill>
              </a:defRPr>
            </a:pPr>
            <a:r>
              <a:t>Amit Astro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</a:defRPr>
            </a:pPr>
            <a:r>
              <a:t>Intelligent Vedic Astrology &amp; Real-Time Astrological Consultation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1E3"/>
                </a:solidFill>
              </a:defRPr>
            </a:pPr>
            <a:r>
              <a:t>SUBMITTED BY</a:t>
            </a:r>
          </a:p>
          <a:p>
            <a:pPr>
              <a:defRPr sz="2000" b="1">
                <a:solidFill>
                  <a:srgbClr val="1D1D1F"/>
                </a:solidFill>
              </a:defRPr>
            </a:pPr>
            <a:r>
              <a:t>Mahansh Gaur</a:t>
            </a:r>
          </a:p>
          <a:p>
            <a:pPr>
              <a:defRPr sz="1200">
                <a:solidFill>
                  <a:srgbClr val="86868B"/>
                </a:solidFill>
              </a:defRPr>
            </a:pPr>
            <a:r>
              <a:t>Roll No.: [Your Roll No.]  ·  github.com/mahanshstarktech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657600"/>
            <a:ext cx="4754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6868B"/>
                </a:solidFill>
              </a:defRPr>
            </a:pPr>
            <a:r>
              <a:t>SUBMITTED TO</a:t>
            </a:r>
          </a:p>
          <a:p>
            <a:pPr>
              <a:defRPr sz="2000" b="1">
                <a:solidFill>
                  <a:srgbClr val="1D1D1F"/>
                </a:solidFill>
              </a:defRPr>
            </a:pPr>
            <a:r>
              <a:t>[Faculty Name]</a:t>
            </a:r>
          </a:p>
          <a:p>
            <a:pPr>
              <a:defRPr sz="1200">
                <a:solidFill>
                  <a:srgbClr val="86868B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6"/>
                </a:solidFill>
              </a:defRPr>
            </a:pPr>
            <a:r>
              <a:t>TECH STACK:  React 18  ·  TypeScript  ·  Node.js  ·  Express  ·  PostgreSQL  ·  Socket.IO  · 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ARCHITECTURE &amp;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A systematic breakdown of the training tenure, system engineering, and production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71E3"/>
                </a:solidFill>
              </a:defRPr>
            </a:pPr>
            <a:r>
              <a:t>01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Company Profile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Host organization profile, operational footprint, domains, and client 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99CC"/>
                </a:solidFill>
              </a:defRPr>
            </a:pPr>
            <a:r>
              <a:t>02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Certificate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Official internship certification and organizational evaluation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48A3D"/>
                </a:solidFill>
              </a:defRPr>
            </a:pPr>
            <a:r>
              <a:t>03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Technology Stack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React 18, TypeScript, Node.js, Express, Socket.IO, PostgreSQL, and Gemini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AF52DE"/>
                </a:solidFill>
              </a:defRPr>
            </a:pPr>
            <a:r>
              <a:t>04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Goal of Training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Five key full-stack, astronomical mathematics, and AI competencies mastered.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D97706"/>
                </a:solidFill>
              </a:defRPr>
            </a:pPr>
            <a:r>
              <a:t>05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Project Overview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Amit Astro vision: ephemeris mathematics, bilingual AI, and real-time consultation.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71E3"/>
                </a:solidFill>
              </a:defRPr>
            </a:pPr>
            <a:r>
              <a:t>06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Working Project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Deep-dive into Kundli Charting, Dasha Engine, Gemini AI, and WebSockets.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99CC"/>
                </a:solidFill>
              </a:defRPr>
            </a:pPr>
            <a:r>
              <a:t>07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Future Scope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WebRTC video consultations, native mobile apps, and automated PDF books.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D1D1F"/>
                </a:solidFill>
              </a:defRPr>
            </a:pPr>
            <a:r>
              <a:t>08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Q &amp; A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Technical architecture defense, algorithm review, and faculty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ORGANIZATIONAL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Industry host organization supporting the full-stack software training tenure.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132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D1D1F"/>
                </a:solidFill>
              </a:defRPr>
            </a:pPr>
            <a:r>
              <a:t>[Organisation Name]</a:t>
            </a:r>
          </a:p>
          <a:p>
            <a:pPr>
              <a:defRPr sz="1200">
                <a:solidFill>
                  <a:srgbClr val="0071E3"/>
                </a:solidFill>
              </a:defRPr>
            </a:pPr>
            <a:r>
              <a:t>Established: [Year]   ·   Headquarters: [City, State, Country]</a:t>
            </a:r>
          </a:p>
          <a:p>
            <a:br/>
            <a:pPr>
              <a:defRPr sz="1300">
                <a:solidFill>
                  <a:srgbClr val="86868B"/>
                </a:solidFill>
              </a:defRPr>
            </a:pPr>
            <a:r>
              <a:t>[Organisation Name] is a technology innovation enterprise delivering high-performance cloud applications, real-time consultation architectures, and domain-grounded artificial intelligence systems. The organization serves consumers and enterprises across varied digital landscapes.</a:t>
            </a:r>
          </a:p>
          <a:p>
            <a:br/>
            <a:pPr>
              <a:defRPr sz="1200">
                <a:solidFill>
                  <a:srgbClr val="1D1D1F"/>
                </a:solidFill>
              </a:defRPr>
            </a:pPr>
            <a:r>
              <a:t>Core Domains: Full-Stack Web Engineering, Real-Time WebSockets, and Applied AI Integrations.</a:t>
            </a:r>
          </a:p>
          <a:p>
            <a:pPr>
              <a:defRPr sz="1200">
                <a:solidFill>
                  <a:srgbClr val="86868B"/>
                </a:solidFill>
              </a:defRPr>
            </a:pPr>
            <a:r>
              <a:t>Office Address: [Official office address, Tech Park / Cyber City Hub]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6868B"/>
                </a:solidFill>
              </a:defRPr>
            </a:pPr>
            <a:br/>
            <a:br/>
            <a:r>
              <a:t>🏢</a:t>
            </a:r>
            <a:br/>
            <a:br/>
            <a:r>
              <a:t>Company Logo</a:t>
            </a:r>
            <a:br/>
            <a:br/>
            <a:r>
              <a:t>Paste official company / training organization logo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FORMAL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Training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Official validation of industrial internship completion and software engineering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132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86868B"/>
                </a:solidFill>
              </a:defRPr>
            </a:pPr>
            <a:br/>
            <a:br/>
            <a:br/>
            <a:r>
              <a:t>📜</a:t>
            </a:r>
            <a:br/>
            <a:br/>
            <a:r>
              <a:t>Paste Training / Internship Certificate Here</a:t>
            </a:r>
            <a:br/>
            <a:br/>
            <a:r>
              <a:t>Embed high-resolution scanned copy of the official training completion certificate signed by the engineering mentor and authorized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48A3D"/>
                </a:solidFill>
              </a:defRPr>
            </a:pPr>
            <a:r>
              <a:t>VALIDATION CRITERIA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✓ Tenure Hours Successfully Completed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✓ Kundli &amp; Real-Time Modules Deployed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✓ GitHub Git Hygiene &amp; Code Reviews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✓ Faculty &amp; Mentor Evaluation Ready</a:t>
            </a:r>
          </a:p>
          <a:p>
            <a:pPr>
              <a:defRPr sz="1100">
                <a:solidFill>
                  <a:srgbClr val="86868B"/>
                </a:solidFill>
              </a:defRPr>
            </a:pP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Candidate: Mahansh Gaur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Project: Amit Astro (Kundli Platform)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Evaluation: Grade Outstanding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TECHNICAL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Technology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Modern, typed, and enterprise-ready technologies powering the frontend, backend, and real-time socket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React 18 &amp; TS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Declarative component hierarchy, strict types, custom hooks, and Vite bundling.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48A3D"/>
                </a:solidFill>
              </a:defRPr>
            </a:pPr>
            <a:r>
              <a:t>Node &amp; Express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High-concurrency async REST backend handling business controllers &amp;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PostgreSQL &amp; SQLite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Dual-database abstraction with connection pooling on Render and local dev.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45309"/>
                </a:solidFill>
              </a:defRPr>
            </a:pPr>
            <a:r>
              <a:t>Socket.IO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Full-duplex real-time WebSockets facilitating instant live astrologer consultation 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F52DE"/>
                </a:solidFill>
              </a:defRPr>
            </a:pPr>
            <a:r>
              <a:t>Google Gemini AI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Bilingual LLM pipeline grounded in classical Parashari shastras for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Razorpay Gateway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Payment intents, recurring subscription billing (Family 360), and HMAC webhooks.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9CC"/>
                </a:solidFill>
              </a:defRPr>
            </a:pPr>
            <a:r>
              <a:t>Tailwind CSS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Responsive design tokens, glassmorphic UI cards, Lucide icons, light/dark themes.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20624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1D1F"/>
                </a:solidFill>
              </a:defRPr>
            </a:pPr>
            <a:r>
              <a:t>Cloudflare &amp; Render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Edge static deployment on Cloudflare Pages and cloud microservices on Render.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Goal of Industrial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Five core full-stack software and computational competencies targeted and mastered during the internship.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1E3"/>
                </a:solidFill>
              </a:defRPr>
            </a:pPr>
            <a:r>
              <a:t>01   ·   Full-Stack Cloud Architecture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Architect an end-to-end distributed system: React client ↔ Express REST APIs ↔ WebSocket server ↔ PostgreSQL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02   ·   Computational Ephemeris &amp; Kundli Algorithms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Translate astronomical ephemeris equations, Lahiri Ayanamsha, and house cusp algorithms into high-precision SVG chart generators.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F52DE"/>
                </a:solidFill>
              </a:defRPr>
            </a:pPr>
            <a:r>
              <a:t>03   ·   Domain-Specific LLM Engineering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Ground Google Gemini AI prompts in Brihat Parashara Hora Shastra rules for accurate, bilingual (Hindi &amp; English) horoscopes.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9CC"/>
                </a:solidFill>
              </a:defRPr>
            </a:pPr>
            <a:r>
              <a:t>04   ·   Real-Time Bidirectional Event Streaming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Implement robust Socket.IO pipelines with typing indicators, presence tracking, message delivery acknowledgments, and stars.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48A3D"/>
                </a:solidFill>
              </a:defRPr>
            </a:pPr>
            <a:r>
              <a:t>05   ·   Security, Payments &amp; Commercial Hygiene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Implement RSA encrypted payloads, CSRF double-cookie tokens, Razorpay subscriptions (Family 360), and Git CI/CD deployments.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Amit Astro (Kundli Engine)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Bridging classical astronomical science with modern cloud engineering and artificial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D1D1F"/>
                </a:solidFill>
              </a:defRPr>
            </a:pPr>
            <a:r>
              <a:t>“Amit Astro turns birth coordinates and timestamps into sub-second mathematical ephemeris calculations, predictive dasha timelines, and real-time live consultations.”</a:t>
            </a:r>
          </a:p>
          <a:p>
            <a:br/>
            <a:pPr>
              <a:defRPr sz="1300">
                <a:solidFill>
                  <a:srgbClr val="86868B"/>
                </a:solidFill>
              </a:defRPr>
            </a:pPr>
            <a:r>
              <a:t>The platform ingests exact birth date, time, and geographical coordinates, computes planetary sidereal longitudes with Lahiri Ayanamsha, renders North/South Indian Kundli charts (D1 to D60), calculates Vimshottari Dashas, and powers an interactive astrologer-seeker ecosystem with bilingual Gemini AI analysis and live Socket.IO messaging.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1E3"/>
                </a:solidFill>
              </a:defRPr>
            </a:pPr>
            <a:r>
              <a:t>01 · INPUT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Birth Coordinates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Date of birth, exact time (UTC/IST), city geocoding, latitude &amp; longitude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2062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99CC"/>
                </a:solidFill>
              </a:defRPr>
            </a:pPr>
            <a:r>
              <a:t>02 · PROCESS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Ephemeris → Chart → Dasha → AI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Planetary longitudes, house cusps, 120-yr Vimshottari dasha, and Gemini AI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2062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03 · OUTPUT</a:t>
            </a:r>
          </a:p>
          <a:p>
            <a:pPr>
              <a:defRPr sz="1600" b="1">
                <a:solidFill>
                  <a:srgbClr val="1D1D1F"/>
                </a:solidFill>
              </a:defRPr>
            </a:pPr>
            <a:r>
              <a:t>Kundli Charts &amp; Live Chat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Dynamic SVG charts, Gochar transits, AI reports, and live consultations.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MARKET NEED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Problem Statement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Modernizing astrological consultations by eliminating inaccurate ephemeris engines and unsecure chats.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THE LEGACY PROBLEM (Manual Friction)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⚠️ Inaccurate Math: Legacy apps use approximate formulas that miscalculate Lagna and Bhav Chalit cusps.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⚠️ Unsecure Consultations: Chats occur over WhatsApp with zero birth-chart context or audit records.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⚠️ Generic Horoscopes: Pre-written static horoscopes lack personalized Parashari shastra depth.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⚠️ No Multi-Profile Architecture: Inability to store family charts or run Gun Milan matching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48A3D"/>
                </a:solidFill>
              </a:defRPr>
            </a:pPr>
            <a:r>
              <a:t>THE AMIT ASTRO SOLUTION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✓ Precision Ephemeris: Sub-second calculation of planetary longitudes, retrogrades, and D1-D60 charts.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✓ Integrated Socket.IO Chat: Real-time consultation with live birth-chart sidebar and 5-min trials.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✓ Bilingual Gemini AI: Domain-grounded AI generates Hindi &amp; English predictions and Parashari remedies.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✓ Family 360 &amp; Razorpay: Multi-profile vault, instant 36-point Gun Milan matching, and recurring billing.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TECHNICAL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System Architecture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A high-throughput, microservice-ready full stack connecting mathematical computation to live sockets.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Seeker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Ephemeris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Chart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Dasha/Transit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Gemini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Live 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011680"/>
            <a:ext cx="1417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48A3D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1D1D1F"/>
                </a:solidFill>
              </a:defRPr>
            </a:pPr>
            <a:r>
              <a:t>CRM &amp; Pay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Mathematical Rigor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Sub-second astronomical ephemeris calculations ensure exact planetary degrees, retrograde states, and divisional vargas.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749039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48A3D"/>
                </a:solidFill>
              </a:defRPr>
            </a:pPr>
            <a:r>
              <a:t>Sub-50ms Reactivity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Full-duplex WebSocket connections deliver instantaneous astrologer chat messages, typing events, read receipts, and timers.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749039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Enterprise Security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Hardened with HTTP-only JWT cookies, CSRF tokens, RSA payload encryption, and Razorpay webhook HMAC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CODEBASE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Working Project: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Clean monorepo-style organization with strict separation of frontend UI, server controllers, and database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</a:defRPr>
            </a:pPr>
            <a:r>
              <a:t>KUNDLI MONOREPO REPOSITORY TREE</a:t>
            </a:r>
          </a:p>
          <a:p>
            <a:br/>
            <a:pPr>
              <a:defRPr sz="1100">
                <a:solidFill>
                  <a:srgbClr val="1D1D1F"/>
                </a:solidFill>
              </a:defRPr>
            </a:pPr>
            <a:r>
              <a:t>Kundli/</a:t>
            </a:r>
            <a:br/>
            <a:r>
              <a:t>├── client/                # React 18 + Vite Frontend</a:t>
            </a:r>
            <a:br/>
            <a:r>
              <a:t>│   ├── src/pages/customer/# Seeker Portal &amp; Kundli</a:t>
            </a:r>
            <a:br/>
            <a:r>
              <a:t>│   ├── src/pages/admin/   # Astrologer CRM Console</a:t>
            </a:r>
            <a:br/>
            <a:r>
              <a:t>│   └── src/utils/api.ts   # RSA-encrypted API client</a:t>
            </a:r>
            <a:br/>
            <a:r>
              <a:t>└── server/                # Express + TypeScript Backend</a:t>
            </a:r>
            <a:br/>
            <a:r>
              <a:t>    ├── src/controllers/   # Auth, Chat, Payment, Trial</a:t>
            </a:r>
            <a:br/>
            <a:r>
              <a:t>    ├── src/services/      # Gemini AI, Subscriptions</a:t>
            </a:r>
            <a:br/>
            <a:r>
              <a:t>    ├── src/db/database.ts # Postgres &amp; SQLite schema</a:t>
            </a:r>
            <a:br/>
            <a:r>
              <a:t>    └── src/index.ts       # Express app + Socket.IO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PACKAGE RESPONSIBILITIES</a:t>
            </a:r>
          </a:p>
          <a:p>
            <a:br/>
            <a:pPr>
              <a:defRPr sz="1200" b="1">
                <a:solidFill>
                  <a:srgbClr val="1D1D1F"/>
                </a:solidFill>
              </a:defRPr>
            </a:pPr>
            <a:r>
              <a:t>• server/src/controllers/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   Handles HTTP routes: authController, chatController, paymentController, and adminController.</a:t>
            </a:r>
          </a:p>
          <a:p>
            <a:br/>
            <a:pPr>
              <a:defRPr sz="1200" b="1">
                <a:solidFill>
                  <a:srgbClr val="1D1D1F"/>
                </a:solidFill>
              </a:defRPr>
            </a:pPr>
            <a:r>
              <a:t>• server/src/services/geminiService.ts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   Encapsulates Gemini AI SDK, handling Parashari astrological prompt engineering and bilingual synthesis.</a:t>
            </a:r>
          </a:p>
          <a:p>
            <a:br/>
            <a:pPr>
              <a:defRPr sz="1200" b="1">
                <a:solidFill>
                  <a:srgbClr val="1D1D1F"/>
                </a:solidFill>
              </a:defRPr>
            </a:pPr>
            <a:r>
              <a:t>• server/src/db/database.ts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   Enterprise database layer supporting Render PostgreSQL pool and local SQLite3 with migrations.</a:t>
            </a:r>
          </a:p>
          <a:p>
            <a:br/>
            <a:pPr>
              <a:defRPr sz="1200" b="1">
                <a:solidFill>
                  <a:srgbClr val="1D1D1F"/>
                </a:solidFill>
              </a:defRPr>
            </a:pPr>
            <a:r>
              <a:t>• client/src/pages/customer/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   Seeker dashboard: North/South Kundli SVG canvas, Mahadasha timeline, Panchang, and live chat.</a:t>
            </a:r>
          </a:p>
          <a:p>
            <a:br/>
            <a:pPr>
              <a:defRPr sz="1200" b="1">
                <a:solidFill>
                  <a:srgbClr val="1D1D1F"/>
                </a:solidFill>
              </a:defRPr>
            </a:pPr>
            <a:r>
              <a:t>• client/src/pages/admin/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   Comprehensive CRM: real-time consultation desk, 5-min trial grants, Family 360 badges, and revenue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CORE ENGINE ·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Working Project: Ephemeris &amp; Kundli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Precision sidereal calculations, Lahiri Ayanamsha calibration, and dynamic vector chart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</a:defRPr>
            </a:pPr>
            <a:r>
              <a:t>$ npm run test:ephemeris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[EPHEMERIS] Ingesting: 19/01/2005 12:00 PM | Udaipur, Rajasthan (24.5854° N, 73.7125° E)</a:t>
            </a:r>
            <a:br/>
            <a:r>
              <a:t>[COMPUTED]  Lagna: Aries (Mesha) at 14°28' | Moon: Taurus (Rohini Nakshatra, Pada 2)</a:t>
            </a:r>
            <a:br/>
            <a:r>
              <a:t>[CHARTS]    Generated D1 (Rashi), D9 (Navamsha), D10 (Dashamsha), Bhav Chalit in 18ms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71E3"/>
                </a:solidFill>
              </a:defRPr>
            </a:pPr>
            <a:r>
              <a:t>16</a:t>
            </a:r>
          </a:p>
          <a:p>
            <a:pPr>
              <a:defRPr sz="1400" b="1">
                <a:solidFill>
                  <a:srgbClr val="1D1D1F"/>
                </a:solidFill>
              </a:defRPr>
            </a:pPr>
            <a:r>
              <a:t>Planets &amp; Upagrahas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Sun, Moon, Mars, Rahu, Ketu, Gulika &amp; Mandi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657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48A3D"/>
                </a:solidFill>
              </a:defRPr>
            </a:pPr>
            <a:r>
              <a:t>16+</a:t>
            </a:r>
          </a:p>
          <a:p>
            <a:pPr>
              <a:defRPr sz="1400" b="1">
                <a:solidFill>
                  <a:srgbClr val="1D1D1F"/>
                </a:solidFill>
              </a:defRPr>
            </a:pPr>
            <a:r>
              <a:t>Divisional Vargas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D1 Rashi, D9 Navamsha, D10 Career, D60 Shashtiamsha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6576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97706"/>
                </a:solidFill>
              </a:defRPr>
            </a:pPr>
            <a:r>
              <a:t>&lt; 0.01°</a:t>
            </a:r>
          </a:p>
          <a:p>
            <a:pPr>
              <a:defRPr sz="1400" b="1">
                <a:solidFill>
                  <a:srgbClr val="1D1D1F"/>
                </a:solidFill>
              </a:defRPr>
            </a:pPr>
            <a:r>
              <a:t>Mathematical Precision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Verified against Chitra Paksha (Lahiri) Ayanamsha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6868B"/>
                </a:solidFill>
              </a:defRPr>
            </a:pPr>
            <a:r>
              <a:t>💡 Dynamic SVG charts adapt instantly to both North Indian Diamond and South Indian Box styles, rendering retrograde tags and house lords.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CORE ENGINE ·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Working Project: Dasha Engine &amp; Gun Milan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120-year Vimshottari dasha hierarchy, planetary transits (Gochar), and 36-point Ashtakoot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71E3"/>
                </a:solidFill>
              </a:defRPr>
            </a:pPr>
            <a:r>
              <a:t>120 Yrs</a:t>
            </a:r>
          </a:p>
          <a:p>
            <a:pPr>
              <a:defRPr sz="1400" b="1">
                <a:solidFill>
                  <a:srgbClr val="1D1D1F"/>
                </a:solidFill>
              </a:defRPr>
            </a:pPr>
            <a:r>
              <a:t>Vimshottari Lifecycle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Continuous calculation from birth Nakshatra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48A3D"/>
                </a:solidFill>
              </a:defRPr>
            </a:pPr>
            <a:r>
              <a:t>3 Tiers</a:t>
            </a:r>
          </a:p>
          <a:p>
            <a:pPr>
              <a:defRPr sz="1400" b="1">
                <a:solidFill>
                  <a:srgbClr val="1D1D1F"/>
                </a:solidFill>
              </a:defRPr>
            </a:pPr>
            <a:r>
              <a:t>Dasha Hierarchy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Mahadasha → Antardasha → Pratyantardasha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36 / 36</a:t>
            </a:r>
          </a:p>
          <a:p>
            <a:pPr>
              <a:defRPr sz="1400" b="1">
                <a:solidFill>
                  <a:srgbClr val="1D1D1F"/>
                </a:solidFill>
              </a:defRPr>
            </a:pPr>
            <a:r>
              <a:t>Gun Milan Matching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Varna, Vashya, Tara, Yoni, Maitri, Gana, Bhakoot, Nadi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</a:defRPr>
            </a:pPr>
            <a:r>
              <a:t>PREDICTIVE ASTROLOGICAL WORKFLOW</a:t>
            </a:r>
          </a:p>
          <a:p>
            <a:br/>
            <a:pPr>
              <a:defRPr sz="1300">
                <a:solidFill>
                  <a:srgbClr val="D97706"/>
                </a:solidFill>
              </a:defRPr>
            </a:pPr>
            <a:r>
              <a:t>BIRTH NAKSHATRA &amp; DEGREE:   Moon: Rohini Nakshatra (46.8°) → Moon Dasha balance: 4y 2m 11d</a:t>
            </a:r>
          </a:p>
          <a:p>
            <a:pPr>
              <a:defRPr sz="1300">
                <a:solidFill>
                  <a:srgbClr val="248A3D"/>
                </a:solidFill>
              </a:defRPr>
            </a:pPr>
            <a:r>
              <a:t>HIERARCHICAL TIMELINE:      {"mahadasha": "Mars", "start": "2009-03-30", "antardasha": "Jupiter", "sub": "Saturn"}</a:t>
            </a:r>
          </a:p>
          <a:p>
            <a:br/>
            <a:pPr>
              <a:defRPr sz="1100">
                <a:solidFill>
                  <a:srgbClr val="86868B"/>
                </a:solidFill>
              </a:defRPr>
            </a:pPr>
            <a:r>
              <a:t>Feeds active Gochar (planetary transits) over natal houses, identifying Sade Sati, Dhaiya, and planetary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Working Project: AI Vedic Consultation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Domain-grounded Google Gemini AI delivering personalized, bilingual (English &amp; Hindi) Parashari readings.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PARASHARI SHASTRA KNOWLEDGE GROUNDING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Prompts grounded in Brihat Parashara Hora Shastra:</a:t>
            </a:r>
            <a:br/>
            <a:r>
              <a:t>• Gajakesari Yoga (Jupiter in Kendra from Moon)</a:t>
            </a:r>
            <a:br/>
            <a:r>
              <a:t>• Raj Yoga &amp; Vipreet Raj Yoga configurations</a:t>
            </a:r>
            <a:br/>
            <a:r>
              <a:t>• Sade Sati 7.5-year Saturn transit phases</a:t>
            </a:r>
            <a:br/>
            <a:br/>
            <a:r>
              <a:t>📜 Eliminates generic AI hallucinations with strict astrological constraint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</a:defRPr>
            </a:pPr>
            <a:r>
              <a:t>MULTILINGUAL GEMINI SYNTHESIZER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Full dual-language output generation:</a:t>
            </a:r>
            <a:br/>
            <a:r>
              <a:t>• Natural Devanagari Hindi (हिन्दी) &amp; English generation</a:t>
            </a:r>
            <a:br/>
            <a:r>
              <a:t>• Tailored practical remedies: Mantras, Gemstones &amp; Fasting</a:t>
            </a:r>
            <a:br/>
            <a:r>
              <a:t>• Career, Marriage, Wealth, and Health timing predictions</a:t>
            </a:r>
            <a:br/>
            <a:br/>
            <a:r>
              <a:t>⚡ Empowers seekers with actionable life and planetary clarity.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</a:defRPr>
            </a:pPr>
            <a:r>
              <a:t>AI PIPELINE:  Planetary Coordinates  ➔  Dasha Extracted  ➔  Parashari Prompt Injected  ➔  Gemini LLM  ➔  Bilingual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PLATFORM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Live Consultation, Billing &amp;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Unifying WebSocket real-time chat, Razorpay subscriptions, and high-efficiency administrative CRM.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Socket.IO Chat Desk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Full-duplex real-time consultation desk:</a:t>
            </a:r>
            <a:br/>
            <a:r>
              <a:t>• Typing indicators &amp; read delivery receipts</a:t>
            </a:r>
            <a:br/>
            <a:r>
              <a:t>• Message pinning, reactions &amp; stars</a:t>
            </a:r>
            <a:br/>
            <a:r>
              <a:t>• Integrated birth-profile side drawer</a:t>
            </a:r>
            <a:br/>
            <a:r>
              <a:t>• Automated 5-minute trial countdown 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48A3D"/>
                </a:solidFill>
              </a:defRPr>
            </a:pPr>
            <a:r>
              <a:t>Razorpay &amp; Billing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Tiered subscription monetization:</a:t>
            </a:r>
            <a:br/>
            <a:r>
              <a:t>• Family 360 Plan: Up to 4 family birth charts</a:t>
            </a:r>
            <a:br/>
            <a:r>
              <a:t>• Pro &amp; Lite: Single chart + priority consults</a:t>
            </a:r>
            <a:br/>
            <a:r>
              <a:t>• Webhook verification via HMAC-SHA256</a:t>
            </a:r>
            <a:br/>
            <a:r>
              <a:t>• Automated invoice &amp; ledger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Astrologer CRM</a:t>
            </a:r>
          </a:p>
          <a:p>
            <a:br/>
            <a:pPr>
              <a:defRPr sz="1200">
                <a:solidFill>
                  <a:srgbClr val="86868B"/>
                </a:solidFill>
              </a:defRPr>
            </a:pPr>
            <a:r>
              <a:t>Enterprise administrative control:</a:t>
            </a:r>
            <a:br/>
            <a:r>
              <a:t>• Complete Seeker Directory (13+ registered)</a:t>
            </a:r>
            <a:br/>
            <a:r>
              <a:t>• 1-Click Trial Grants &amp; Family 360 overrides</a:t>
            </a:r>
            <a:br/>
            <a:r>
              <a:t>• Astrologer private consultation notes</a:t>
            </a:r>
            <a:br/>
            <a:r>
              <a:t>• Real-time financial revenue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MILESTONE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Development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Current execution status across project milestones deployed to Cloudflare Pages &amp; Render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8A3D"/>
                </a:solidFill>
              </a:defRPr>
            </a:pPr>
            <a:r>
              <a:t>01   ·   [Done]</a:t>
            </a:r>
          </a:p>
          <a:p>
            <a:pPr>
              <a:defRPr sz="1500" b="1">
                <a:solidFill>
                  <a:srgbClr val="1D1D1F"/>
                </a:solidFill>
              </a:defRPr>
            </a:pPr>
            <a:r>
              <a:t>Architecture &amp; Dual DB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Postgres on Render + SQLite local, JWT session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8A3D"/>
                </a:solidFill>
              </a:defRPr>
            </a:pPr>
            <a:r>
              <a:t>02   ·   [Done]</a:t>
            </a:r>
          </a:p>
          <a:p>
            <a:pPr>
              <a:defRPr sz="1500" b="1">
                <a:solidFill>
                  <a:srgbClr val="1D1D1F"/>
                </a:solidFill>
              </a:defRPr>
            </a:pPr>
            <a:r>
              <a:t>Ephemeris &amp; Kundli Engine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16 planets, D1-D60 SVG charts, Lahiri Ayanamsha math.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8A3D"/>
                </a:solidFill>
              </a:defRPr>
            </a:pPr>
            <a:r>
              <a:t>03   ·   [Done]</a:t>
            </a:r>
          </a:p>
          <a:p>
            <a:pPr>
              <a:defRPr sz="1500" b="1">
                <a:solidFill>
                  <a:srgbClr val="1D1D1F"/>
                </a:solidFill>
              </a:defRPr>
            </a:pPr>
            <a:r>
              <a:t>Dasha &amp; Gun Milan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120-year Vimshottari hierarchy + 36-point compatibility.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8A3D"/>
                </a:solidFill>
              </a:defRPr>
            </a:pPr>
            <a:r>
              <a:t>04   ·   [Done]</a:t>
            </a:r>
          </a:p>
          <a:p>
            <a:pPr>
              <a:defRPr sz="1500" b="1">
                <a:solidFill>
                  <a:srgbClr val="1D1D1F"/>
                </a:solidFill>
              </a:defRPr>
            </a:pPr>
            <a:r>
              <a:t>Gemini AI Vedic Engine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Parashari-grounded bilingual (Hindi/English) interpretations.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8A3D"/>
                </a:solidFill>
              </a:defRPr>
            </a:pPr>
            <a:r>
              <a:t>05   ·   [Done]</a:t>
            </a:r>
          </a:p>
          <a:p>
            <a:pPr>
              <a:defRPr sz="1500" b="1">
                <a:solidFill>
                  <a:srgbClr val="1D1D1F"/>
                </a:solidFill>
              </a:defRPr>
            </a:pPr>
            <a:r>
              <a:t>Socket.IO Live Chat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Real-time bidirectional consultations with 5-min trial 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8A3D"/>
                </a:solidFill>
              </a:defRPr>
            </a:pPr>
            <a:r>
              <a:t>06   ·   [Done]</a:t>
            </a:r>
          </a:p>
          <a:p>
            <a:pPr>
              <a:defRPr sz="1500" b="1">
                <a:solidFill>
                  <a:srgbClr val="1D1D1F"/>
                </a:solidFill>
              </a:defRPr>
            </a:pPr>
            <a:r>
              <a:t>Billing, CRM &amp; Deploy</a:t>
            </a:r>
          </a:p>
          <a:p>
            <a:pPr>
              <a:defRPr sz="1000">
                <a:solidFill>
                  <a:srgbClr val="86868B"/>
                </a:solidFill>
              </a:defRPr>
            </a:pPr>
            <a:r>
              <a:t>Razorpay Family 360, admin controls &amp; live cloud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71E3"/>
                </a:solidFill>
              </a:defRPr>
            </a:pPr>
            <a:r>
              <a:t>🎯 Live Production URL: amitastro.pages.dev   ·   Code repository: github.com/mahanshstarktech/amitastro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TECHNICAL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Engineering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Key obstacles encountered during the project implementation and the robust architectural solutions applied.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Challenge: Postgres vs SQLite Double Quote Variance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Resolution: Postgres treated double quotes as column identifiers causing runtime crashes; resolved by parameterizing all SQL literals.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</a:defRPr>
            </a:pPr>
            <a:r>
              <a:t>Challenge: Astronomical Ephemeris Coordinate Drift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Resolution: Standard algorithms drifted over leap years; calibrated against Chitra Paksha Lahiri Ayanamsha for sub-0.01°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F52DE"/>
                </a:solidFill>
              </a:defRPr>
            </a:pPr>
            <a:r>
              <a:t>Challenge: WebSocket Mobile Drop-off Reconnection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Resolution: Mobile browser tab suspensions terminated chats; implemented heartbeat keep-alives and state rehydration on reconnect.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48A3D"/>
                </a:solidFill>
              </a:defRPr>
            </a:pPr>
            <a:r>
              <a:t>Challenge: Payment Webhook Integrity &amp; Tampering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Resolution: Prevented subscription spoofing using cryptographically signed HMAC-SHA256 signature verification on Razorpay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</a:defRPr>
            </a:pPr>
            <a:r>
              <a:t>Challenge: AI Hallucinations in Astrological Readings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Resolution: Grounded LLM prompts with Parashari shastra rulebooks and structured JSON schemas to ensure canonical remedies.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BE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0071E3"/>
                </a:solidFill>
                <a:latin typeface="Arial"/>
              </a:defRPr>
            </a:pPr>
            <a:r>
              <a:t>●  VISION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1D1D1F"/>
                </a:solidFill>
                <a:latin typeface="Arial"/>
              </a:defRPr>
            </a:pPr>
            <a:r>
              <a:t>Future Scope &amp; Commercial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86868B"/>
                </a:solidFill>
                <a:latin typeface="Arial"/>
              </a:defRPr>
            </a:pPr>
            <a:r>
              <a:t>Strategic features to expand Amit Astro into an international enterprise astrology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1E3"/>
                </a:solidFill>
              </a:defRPr>
            </a:pPr>
            <a:r>
              <a:t>Native iOS &amp; Android Mobile Apps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Build high-performance native apps via React Native with push notifications for Gochar planetary transits and daily Panchang.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9CC"/>
                </a:solidFill>
              </a:defRPr>
            </a:pPr>
            <a:r>
              <a:t>1-on-1 WebRTC Video Consultations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End-to-end encrypted audio/video consultation rooms with live screen-sharing of birth charts between astrologer and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Automated 50-Page Kundli Book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Server-side headless Chromium PDF generation compiling full D1-D60 charts, 120-year Dasha tables, and gemstone remedies into a keepsake 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47472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F52DE"/>
                </a:solidFill>
              </a:defRPr>
            </a:pPr>
            <a:r>
              <a:t>Voice-Interactive AI Astrologer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Real-time conversational speech-to-speech AI consultation answering queries in Hindi, Sanskrit, and English.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48A3D"/>
                </a:solidFill>
              </a:defRPr>
            </a:pPr>
            <a:r>
              <a:t>Global Multi-Currency Stripe Billing</a:t>
            </a:r>
          </a:p>
          <a:p>
            <a:pPr>
              <a:defRPr sz="1100">
                <a:solidFill>
                  <a:srgbClr val="86868B"/>
                </a:solidFill>
              </a:defRPr>
            </a:pPr>
            <a:r>
              <a:t>International gateway integration (Stripe, PayPal) supporting multi-currency pricing (USD, EUR, GBP, AED) for global diaspora seekers seeking Vedic consultation.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D1D1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Floor open for architectural inquiry, computational review, and faculty evaluation.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4023360"/>
            <a:ext cx="2834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</a:defRPr>
            </a:pPr>
            <a:br/>
            <a:r>
              <a:t>Ephemeris Mathematical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023360"/>
            <a:ext cx="2834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</a:defRPr>
            </a:pPr>
            <a:br/>
            <a:r>
              <a:t>Socket.IO Latency &amp; Concurrency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023360"/>
            <a:ext cx="2834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</a:defRPr>
            </a:pPr>
            <a:br/>
            <a:r>
              <a:t>Gemini AI Shastra Grounding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48A3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17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D1D1F"/>
                </a:solidFill>
              </a:defRPr>
            </a:pPr>
            <a:r>
              <a:t>Mahansh Gaur</a:t>
            </a:r>
            <a:br/>
            <a:r>
              <a:t>github.com/mahanshstarktech/amitastro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7589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86868B"/>
                </a:solidFill>
              </a:defRPr>
            </a:pPr>
            <a:br/>
            <a:r>
              <a:t>Amit Astro — Intelligent Vedic Astrology &amp; Real-Time Consultation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