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4114800" cy="384048"/>
          </a:xfrm>
          <a:prstGeom prst="roundRect">
            <a:avLst/>
          </a:prstGeom>
          <a:solidFill>
            <a:srgbClr val="191E28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4D2FF"/>
                </a:solidFill>
              </a:defRPr>
            </a:pPr>
            <a:r>
              <a:t>●  INDUSTRIAL TRAINING PRESENTATION (ITR)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</a:defRPr>
            </a:pPr>
            <a:r>
              <a:t>SpendMind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1919B"/>
                </a:solidFill>
              </a:defRPr>
            </a:pPr>
            <a:r>
              <a:t>Financial Data Pipeline &amp; NLP-Based Transaction Categorization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657600"/>
            <a:ext cx="4754880" cy="1920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997FF"/>
                </a:solidFill>
              </a:defRPr>
            </a:pPr>
            <a:r>
              <a:t>SUBMITTED BY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Somya Roy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Roll No.: [Your Roll No.]  ·  github.com/Missroy1905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657600"/>
            <a:ext cx="4754880" cy="1920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1919B"/>
                </a:solidFill>
              </a:defRPr>
            </a:pPr>
            <a:r>
              <a:t>SUBMITTED TO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[Faculty Name]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5A64"/>
                </a:solidFill>
              </a:defRPr>
            </a:pPr>
            <a:r>
              <a:t>TECH STACK:  Python 3.11  ·  pdfplumber  ·  scikit-learn  ·  FastAPI  ·  SQLite  ·  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STRUCTURE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A systematic overview of the training tenure, engineering architecture, and deliverables.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997FF"/>
                </a:solidFill>
              </a:defRPr>
            </a:pPr>
            <a:r>
              <a:t>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Company Profile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Corporate profile, operational footprint, domains, and client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64D2FF"/>
                </a:solidFill>
              </a:defRPr>
            </a:pPr>
            <a:r>
              <a:t>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Certificate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Official internship certification and organizational evaluation proof.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0D158"/>
                </a:solidFill>
              </a:defRPr>
            </a:pPr>
            <a:r>
              <a:t>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Technology Stack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Python, pdfplumber, pandas, scikit-learn, FastAPI, SQLite, and 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BF5AF2"/>
                </a:solidFill>
              </a:defRPr>
            </a:pPr>
            <a:r>
              <a:t>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Goal of Training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Five key data engineering, ML modeling, and professional competencies.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9F0A"/>
                </a:solidFill>
              </a:defRPr>
            </a:pPr>
            <a:r>
              <a:t>05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Project Overview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SpendMind vision, problem statement, and proposed automated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2997FF"/>
                </a:solidFill>
              </a:defRPr>
            </a:pPr>
            <a:r>
              <a:t>06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Working Project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Deep-dive into Extractor, Parser, NLP Classifier, and Dashboard 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64D2FF"/>
                </a:solidFill>
              </a:defRPr>
            </a:pPr>
            <a:r>
              <a:t>07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Future Scope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Multi-bank ingestion, active learning, anomaly detection, and cloud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08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Q &amp; A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Technical defense, architectural inquiry, and faculty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ORGANIZATIONAL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Industry host organization supporting the training internship.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13232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[Organisation Name]</a:t>
            </a:r>
          </a:p>
          <a:p>
            <a:pPr>
              <a:defRPr sz="1200">
                <a:solidFill>
                  <a:srgbClr val="64D2FF"/>
                </a:solidFill>
              </a:defRPr>
            </a:pPr>
            <a:r>
              <a:t>Established: [Year]   ·   Headquarters: [City, State, Country]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[Organisation Name] is a technology-driven engineering enterprise delivering robust digital products and enterprise services. The organization works across FinTech, cloud data pipelines, and intelligent automation, serving high-impact clients across multiple industry verticals.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Core Domains: Data Engineering, Intelligent Document Automation, and Full-Stack APIs.</a:t>
            </a:r>
          </a:p>
          <a:p>
            <a:pPr>
              <a:defRPr sz="1200">
                <a:solidFill>
                  <a:srgbClr val="91919B"/>
                </a:solidFill>
              </a:defRPr>
            </a:pPr>
            <a:r>
              <a:t>Office Address: [Official office address / Cyber City / Tech Park]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29184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1919B"/>
                </a:solidFill>
              </a:defRPr>
            </a:pPr>
            <a:br/>
            <a:br/>
            <a:r>
              <a:t>🏢</a:t>
            </a:r>
            <a:br/>
            <a:br/>
            <a:r>
              <a:t>Company Logo</a:t>
            </a:r>
            <a:br/>
            <a:br/>
            <a:r>
              <a:t>Paste official company / training organization logo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FORMAL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Training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Official validation of industrial internship completion and practical project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13232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91919B"/>
                </a:solidFill>
              </a:defRPr>
            </a:pPr>
            <a:br/>
            <a:br/>
            <a:br/>
            <a:r>
              <a:t>📜</a:t>
            </a:r>
            <a:br/>
            <a:br/>
            <a:r>
              <a:t>Paste Training / Internship Certificate Here</a:t>
            </a:r>
            <a:br/>
            <a:br/>
            <a:r>
              <a:t>Embed high-resolution scanned copy of the official training completion certificate signed by the mentor and HR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29184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0D158"/>
                </a:solidFill>
              </a:defRPr>
            </a:pPr>
            <a:r>
              <a:t>VALIDATION CRITERIA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✓ Full Training Tenure Completed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✓ End-to-End Pipeline Implemented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✓ Code Reviewed &amp; Version Tracked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✓ Faculty &amp; Mentor Evaluation Ready</a:t>
            </a:r>
          </a:p>
          <a:p>
            <a:pPr>
              <a:defRPr sz="1100">
                <a:solidFill>
                  <a:srgbClr val="91919B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Candidate: Somya Roy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Project: SpendMind Engine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Evaluation: Grade Outstanding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TECHNICAL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Purpose-built, lightweight, and production-grade tools selected for the end-to-end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Python 3.11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Core programming language for all pipeline stages: ingestion, NLP, and REST routing.</a:t>
            </a:r>
          </a:p>
        </p:txBody>
      </p:sp>
      <p:pic>
        <p:nvPicPr>
          <p:cNvPr id="6" name="Picture 5" descr="image-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11480" cy="411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42900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pdfplumber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High-precision text &amp; table extraction from multi-page bank statement PDFs.</a:t>
            </a:r>
          </a:p>
        </p:txBody>
      </p:sp>
      <p:pic>
        <p:nvPicPr>
          <p:cNvPr id="8" name="Picture 7" descr="image-5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94560"/>
            <a:ext cx="411480" cy="411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2648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pandas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Tabular data manipulation, transaction reconciliation, schema normalization.</a:t>
            </a:r>
          </a:p>
        </p:txBody>
      </p:sp>
      <p:pic>
        <p:nvPicPr>
          <p:cNvPr id="10" name="Picture 9" descr="image-5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194560"/>
            <a:ext cx="411480" cy="4114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23960" y="201168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scikit-learn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Machine learning pipeline combining TF-IDF vectorization with Logistic Regression.</a:t>
            </a:r>
          </a:p>
        </p:txBody>
      </p:sp>
      <p:pic>
        <p:nvPicPr>
          <p:cNvPr id="12" name="Picture 11" descr="image-5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194560"/>
            <a:ext cx="411480" cy="4114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FastAPI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Asynchronous REST backend serving upload endpoints and spend summaries.</a:t>
            </a:r>
          </a:p>
        </p:txBody>
      </p:sp>
      <p:pic>
        <p:nvPicPr>
          <p:cNvPr id="14" name="Picture 13" descr="image-5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89120"/>
            <a:ext cx="411480" cy="4114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2900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SQLite + ORM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Zero-config local relational storage managed via SQLAlchemy ORM models.</a:t>
            </a:r>
          </a:p>
        </p:txBody>
      </p:sp>
      <p:pic>
        <p:nvPicPr>
          <p:cNvPr id="16" name="Picture 15" descr="image-5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389120"/>
            <a:ext cx="411480" cy="4114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2648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HTML / CSS / JS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Lightweight, zero-dependency analytics dashboard providing rapid category charts.</a:t>
            </a:r>
          </a:p>
        </p:txBody>
      </p:sp>
      <p:pic>
        <p:nvPicPr>
          <p:cNvPr id="18" name="Picture 17" descr="image-5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389120"/>
            <a:ext cx="411480" cy="4114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823960" y="4206240"/>
            <a:ext cx="2514600" cy="196596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br/>
            <a:r>
              <a:t>Git &amp; GitHub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Version control, atomic commit hygiene, branch isolation, and repo tracking.</a:t>
            </a:r>
          </a:p>
        </p:txBody>
      </p:sp>
      <p:pic>
        <p:nvPicPr>
          <p:cNvPr id="20" name="Picture 19" descr="image-5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43891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Goal of Industrial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Five core engineering competencies targeted and mastered throughout the project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997FF"/>
                </a:solidFill>
              </a:defRPr>
            </a:pPr>
            <a:r>
              <a:t>01   ·   Data Engineering Pipelines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Build an end-to-end pipeline: raw file ingestion → text extraction → regex parsing → ML categorization → relational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D2FF"/>
                </a:solidFill>
              </a:defRPr>
            </a:pPr>
            <a:r>
              <a:t>02   ·   PDF &amp; Unstructured Text Processing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Handle unstructured bank-statement PDFs using pdfplumber coordinate bounding boxes, text heuristics, and pandas sanitization.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F5AF2"/>
                </a:solidFill>
              </a:defRPr>
            </a:pPr>
            <a:r>
              <a:t>03   ·   Applied NLP &amp; Machine Learning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Formulate text tokenization, n-gram TF-IDF vectorization, and train a Logistic Regression classifier for cryptic transaction narrations.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0A"/>
                </a:solidFill>
              </a:defRPr>
            </a:pPr>
            <a:r>
              <a:t>04   ·   Backend API Development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Expose processing results through high-performance asynchronous FastAPI REST endpoints backed by SQLite and SQLAlchemy.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05   ·   Professional Engineering Hygiene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Master modern software practices: virtual environment isolation, reproducible fixtures, modular code architecture, and Git branching.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SpendMind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Transforming raw, cryptic financial records into structured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920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“SpendMind turns raw, cryptic bank-statement PDFs into clean, structured, and intelligently categorized financial transaction data.”</a:t>
            </a:r>
          </a:p>
          <a:p>
            <a:br/>
            <a:pPr>
              <a:defRPr sz="1300">
                <a:solidFill>
                  <a:srgbClr val="91919B"/>
                </a:solidFill>
              </a:defRPr>
            </a:pPr>
            <a:r>
              <a:t>It extracts text and tables using pdfplumber, normalizes each line into Date, Narration, Amount, and Type via regex heuristics, and assigns merchants to expense categories using a hybrid Keyword Rules + TF-IDF ML Classifier. Results are stored in SQLite and served through FastAPI to an interactive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D2FF"/>
                </a:solidFill>
              </a:defRPr>
            </a:pPr>
            <a:r>
              <a:t>01 · INPUT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Bank Statement PDF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Raw HDFC-style statements with mixed text and multi-line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206240"/>
            <a:ext cx="347472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02 · PROCESS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Extract → Parse → Categorize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pdfplumber layout analysis + heuristic normalizer + NLP ML classifier.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206240"/>
            <a:ext cx="3474720" cy="20116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5AF2"/>
                </a:solidFill>
              </a:defRPr>
            </a:pPr>
            <a:r>
              <a:t>03 · OUTPUT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Structured Data &amp; Dashboard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SQLite database, REST API responses, and visual category breakdown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MARKET NEED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Statement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Bridging the gap between locked banking documents and modern financial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0A"/>
                </a:solidFill>
              </a:defRPr>
            </a:pPr>
            <a:r>
              <a:t>THE PROBLEM (Manual Friction)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⚠️ PDF Lock-in: Statements arrive as locked PDFs that cannot be queried or calculated directly.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⚠️ Manual Tracking: Spreadsheet entry is slow, tedious, and prone to human errors.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⚠️ Cryptic Codes: Narrations like UPI-ZOMATO-9876543210 are inconsistent and messy.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⚠️ No Real-Time Visibility: No instant categorized overview of where money is going.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THE SPENDMIND SOLUTION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✓ Automated Extraction: Headless table and text parsing directly from PDF coordinates.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✓ Normalized Schema: Standardizes raw text into Date, Narration, Amount, and Type.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✓ Hybrid Categorization: Fast heuristic keyword matching backed by a trained TF-IDF model.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✓ Queryable API &amp; UI: Instant SQLite persistence connected to a clean, visual web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TECHNICAL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A modular, loosely-coupled pipeline where each stage is independently verifiable.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0D158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PDF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0D158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Extractor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0D158"/>
                </a:solidFill>
              </a:defRPr>
            </a:pPr>
            <a:r>
              <a:t>[Done]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9F0A"/>
                </a:solidFill>
              </a:defRPr>
            </a:pPr>
            <a:r>
              <a:t>[Next]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Categorizer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997FF"/>
                </a:solidFill>
              </a:defRPr>
            </a:pPr>
            <a:r>
              <a:t>[Planned]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997FF"/>
                </a:solidFill>
              </a:defRPr>
            </a:pPr>
            <a:r>
              <a:t>[Planned]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011680"/>
            <a:ext cx="141732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F5AF2"/>
                </a:solidFill>
              </a:defRPr>
            </a:pPr>
            <a:r>
              <a:t>[Planned]</a:t>
            </a:r>
          </a:p>
          <a:p>
            <a:br/>
            <a:pPr algn="ctr">
              <a:defRPr sz="13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474720" cy="2468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br/>
            <a:br/>
            <a:r>
              <a:t>Modular Architecture</a:t>
            </a:r>
          </a:p>
          <a:p>
            <a:br/>
            <a:pPr>
              <a:defRPr sz="1100">
                <a:solidFill>
                  <a:srgbClr val="91919B"/>
                </a:solidFill>
              </a:defRPr>
            </a:pPr>
            <a:r>
              <a:t>Every stage lives in its own dedicated Python file with explicit inputs and outputs, enabling isolated testing.</a:t>
            </a:r>
          </a:p>
        </p:txBody>
      </p:sp>
      <p:pic>
        <p:nvPicPr>
          <p:cNvPr id="13" name="Picture 12" descr="image-100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931920"/>
            <a:ext cx="411480" cy="411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43400" y="3749039"/>
            <a:ext cx="3474720" cy="2468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br/>
            <a:br/>
            <a:r>
              <a:t>Reproducible Artifacts</a:t>
            </a:r>
          </a:p>
          <a:p>
            <a:br/>
            <a:pPr>
              <a:defRPr sz="1100">
                <a:solidFill>
                  <a:srgbClr val="91919B"/>
                </a:solidFill>
              </a:defRPr>
            </a:pPr>
            <a:r>
              <a:t>The synthetic sample statement PDF regenerates byte-for-byte identical via pinned seeds and deterministic timestamps.</a:t>
            </a:r>
          </a:p>
        </p:txBody>
      </p:sp>
      <p:pic>
        <p:nvPicPr>
          <p:cNvPr id="15" name="Picture 14" descr="image-100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931920"/>
            <a:ext cx="411480" cy="4114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955280" y="3749039"/>
            <a:ext cx="3474720" cy="2468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br/>
            <a:br/>
            <a:r>
              <a:t>Incremental Layering</a:t>
            </a:r>
          </a:p>
          <a:p>
            <a:br/>
            <a:pPr>
              <a:defRPr sz="1100">
                <a:solidFill>
                  <a:srgbClr val="91919B"/>
                </a:solidFill>
              </a:defRPr>
            </a:pPr>
            <a:r>
              <a:t>Deterministic keyword rules provide an immediate baseline; the TF-IDF machine learning classifier layers on after.</a:t>
            </a:r>
          </a:p>
        </p:txBody>
      </p:sp>
      <p:pic>
        <p:nvPicPr>
          <p:cNvPr id="17" name="Picture 16" descr="image-100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9319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CODEBASE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Working Project: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Clean, maintainable directory hierarchy adhering to modern Python packaging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D2FF"/>
                </a:solidFill>
              </a:defRPr>
            </a:pPr>
            <a:r>
              <a:t>SPENDMIND DIRECTORY TREE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spendmind/</a:t>
            </a:r>
            <a:br/>
            <a:r>
              <a:t>├── README.md</a:t>
            </a:r>
            <a:br/>
            <a:r>
              <a:t>├── requirements.txt</a:t>
            </a:r>
            <a:br/>
            <a:r>
              <a:t>├── sample_data/</a:t>
            </a:r>
            <a:br/>
            <a:r>
              <a:t>│   └── sample_bank_statement.pdf</a:t>
            </a:r>
            <a:br/>
            <a:r>
              <a:t>└── src/</a:t>
            </a:r>
            <a:br/>
            <a:r>
              <a:t>    ├── api/          # FastAPI routes</a:t>
            </a:r>
            <a:br/>
            <a:r>
              <a:t>    ├── db/           # SQLAlchemy models</a:t>
            </a:r>
            <a:br/>
            <a:r>
              <a:t>    ├── ml/           # Rule matchers + NLP</a:t>
            </a:r>
            <a:br/>
            <a:r>
              <a:t>    ├── pipeline/     # PDF extractor &amp; parser</a:t>
            </a:r>
            <a:br/>
            <a:r>
              <a:t>    │   ├── extractor.py</a:t>
            </a:r>
            <a:br/>
            <a:r>
              <a:t>    │   └── parser.py</a:t>
            </a:r>
            <a:br/>
            <a:r>
              <a:t>    └── utils/        # Sample PDF generator</a:t>
            </a:r>
            <a:br/>
            <a:r>
              <a:t>        └── generate_sample.py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997FF"/>
                </a:solidFill>
              </a:defRPr>
            </a:pPr>
            <a:r>
              <a:t>PACKAGE RESPONSIBILITIES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pipeline/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   PDF layout extraction (extractor.py) and multi-column transaction parsing (parser.py).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ml/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   Two-tier categorization engine: fast keyword lookup tables and scikit-learn TF-IDF classifier.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db/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   SQLAlchemy database models and SQLite session management for transaction records.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api/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   FastAPI REST endpoints handling file uploads, query filtering, and category analytics.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utils/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   Reproducible sample statement PDF generator for testing across heterogeneous merchants.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PIPELINE 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Working Project: PDF Extractor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extractor.py — reading raw text streams, bounding coordinates, and table grids from each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4630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D2FF"/>
                </a:solidFill>
              </a:defRPr>
            </a:pPr>
            <a:r>
              <a:t>$ python src/pipeline/extractor.py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[INFO] Pages: 3   Lines: 71   Tables: 3</a:t>
            </a:r>
            <a:br/>
            <a:r>
              <a:t>[DATA] Columns: Date | Narration | Amount | Type</a:t>
            </a:r>
            <a:br/>
            <a:r>
              <a:t>[ROW]  03/06/2025 UPI-ZOMATO-9876543210 420.00 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2997FF"/>
                </a:solidFill>
              </a:defRPr>
            </a:pPr>
            <a:r>
              <a:t>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Pages Ingested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Multi-page stream 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0D158"/>
                </a:solidFill>
              </a:defRPr>
            </a:pPr>
            <a:r>
              <a:t>71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Text Lines Extracted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Parsed and sanitized line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65760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9F0A"/>
                </a:solidFill>
              </a:defRPr>
            </a:pPr>
            <a:r>
              <a:t>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Tabular Grids Identified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Table bounding boxes segmented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1919B"/>
                </a:solidFill>
              </a:defRPr>
            </a:pPr>
            <a:r>
              <a:t>💡 Takeaway: Dates normalized to DD/MM/YYYY and Type classified as Dr / Cr. Multiple extractor prototypes were merged into one tested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PIPELINE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Working Project: Transaction 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parser.py — converting raw text line streams into structured, reconciled financial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2997FF"/>
                </a:solidFill>
              </a:defRPr>
            </a:pPr>
            <a:r>
              <a:t>65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Transactions Parsed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100% parsed with zero drop-off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30D158"/>
                </a:solidFill>
              </a:defRPr>
            </a:pPr>
            <a:r>
              <a:t>₹76,193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Total Debits Verified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Accurate reconciliation of outflows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64D2FF"/>
                </a:solidFill>
              </a:defRPr>
            </a:pPr>
            <a:r>
              <a:t>₹76,633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Total Credits Verified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Accurate reconciliation of inflows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997FF"/>
                </a:solidFill>
              </a:defRPr>
            </a:pPr>
            <a:r>
              <a:t>DATA TRANSFORMATION WORKFLOW</a:t>
            </a:r>
          </a:p>
          <a:p>
            <a:br/>
            <a:pPr>
              <a:defRPr sz="1300">
                <a:solidFill>
                  <a:srgbClr val="FF9F0A"/>
                </a:solidFill>
              </a:defRPr>
            </a:pPr>
            <a:r>
              <a:t>RAW INPUT LINE:   03/06/2025 UPI-ZOMATO-9876543210 420.00 Dr</a:t>
            </a:r>
          </a:p>
          <a:p>
            <a:pPr>
              <a:defRPr sz="1300">
                <a:solidFill>
                  <a:srgbClr val="30D158"/>
                </a:solidFill>
              </a:defRPr>
            </a:pPr>
            <a:r>
              <a:t>PARSED RECORD:    {"date": "03/06/2025", "narration": "UPI-ZOMATO-9876543210", "amount": 420.00, "type": "Dr"}</a:t>
            </a:r>
          </a:p>
          <a:p>
            <a:br/>
            <a:pPr>
              <a:defRPr sz="1100">
                <a:solidFill>
                  <a:srgbClr val="91919B"/>
                </a:solidFill>
              </a:defRPr>
            </a:pPr>
            <a:r>
              <a:t>Checksum reconciliation guarantees total debits and credits balance accurately before database ingestion.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PIPELINE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Working Project: Categorization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A two-tier hybrid architecture combining deterministic rules with natural language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29260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F0A"/>
                </a:solidFill>
              </a:defRPr>
            </a:pPr>
            <a:r>
              <a:t>TIER 1: KEYWORD RULES (v1.0 · Next)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Direct merchant keyword matching on narration tokens:</a:t>
            </a:r>
            <a:br/>
            <a:r>
              <a:t>• ZOMATO, SWIGGY → Food &amp; Dining</a:t>
            </a:r>
            <a:br/>
            <a:r>
              <a:t>• UBER, OLA → Travel &amp; Transit</a:t>
            </a:r>
            <a:br/>
            <a:r>
              <a:t>• AMAZON, FLIPKART → Shopping</a:t>
            </a:r>
            <a:br/>
            <a:br/>
            <a:r>
              <a:t>⚡ Fast, deterministic, and requires zero initial training data.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NLP machine learning for unseen/cryptic narrations:</a:t>
            </a:r>
            <a:br/>
            <a:r>
              <a:t>• TF-IDF converts narration string into n-gram feature vectors</a:t>
            </a:r>
            <a:br/>
            <a:r>
              <a:t>• Logistic Regression predicts the category with probability</a:t>
            </a:r>
            <a:br/>
            <a:br/>
            <a:r>
              <a:t>🎯 Generalizes smoothly to novel merchants the rules have never seen.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29260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997FF"/>
                </a:solidFill>
              </a:defRPr>
            </a:pPr>
            <a:r>
              <a:t>TIER 2: TF-IDF + LOGISTIC REGRESSION (v1.1 · Planned)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D2FF"/>
                </a:solidFill>
              </a:defRPr>
            </a:pPr>
            <a:r>
              <a:t>NLP PIPELINE:  Narration Text  ➔  Clean/Tokenize  ➔  TF-IDF Vectors  ➔  Logistic Regression  ➔  Predicted Category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FULL-STACK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Storage, API &amp;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Connecting backend data processing to an interactive, user-facing analytics surface.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0D158"/>
                </a:solidFill>
              </a:defRPr>
            </a:pPr>
            <a:br/>
            <a:br/>
            <a:br/>
            <a:r>
              <a:t>Database (SQLite + ORM)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Stores verified date, narration, amount, type &amp; category.</a:t>
            </a:r>
            <a:br/>
            <a:r>
              <a:t>Single local file with zero server setup.</a:t>
            </a:r>
            <a:br/>
            <a:r>
              <a:t>Indexed schema for rapid date &amp; category filtering.</a:t>
            </a:r>
          </a:p>
        </p:txBody>
      </p:sp>
      <p:pic>
        <p:nvPicPr>
          <p:cNvPr id="6" name="Picture 5" descr="image-5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8600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43400" y="2011680"/>
            <a:ext cx="347472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997FF"/>
                </a:solidFill>
              </a:defRPr>
            </a:pPr>
            <a:br/>
            <a:br/>
            <a:br/>
            <a:r>
              <a:t>FastAPI Backend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High-performance asynchronous REST microservice:</a:t>
            </a:r>
            <a:br/>
            <a:r>
              <a:t>• POST /upload — Process raw PDF statement</a:t>
            </a:r>
            <a:br/>
            <a:r>
              <a:t>• GET /transactions — Fetch stored records</a:t>
            </a:r>
            <a:br/>
            <a:r>
              <a:t>• GET /summary — Aggregate spend by category</a:t>
            </a:r>
          </a:p>
        </p:txBody>
      </p:sp>
      <p:pic>
        <p:nvPicPr>
          <p:cNvPr id="8" name="Picture 7" descr="image-5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86000"/>
            <a:ext cx="502920" cy="502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80" y="2011680"/>
            <a:ext cx="3474720" cy="42062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F5AF2"/>
                </a:solidFill>
              </a:defRPr>
            </a:pPr>
            <a:br/>
            <a:br/>
            <a:br/>
            <a:r>
              <a:t>Web Dashboard</a:t>
            </a:r>
          </a:p>
          <a:p>
            <a:br/>
            <a:pPr>
              <a:defRPr sz="1200">
                <a:solidFill>
                  <a:srgbClr val="91919B"/>
                </a:solidFill>
              </a:defRPr>
            </a:pPr>
            <a:r>
              <a:t>Vanilla HTML / CSS / JS frontend interface.</a:t>
            </a:r>
            <a:br/>
            <a:r>
              <a:t>Reuses UI from an earlier Java MVP.</a:t>
            </a:r>
            <a:br/>
            <a:r>
              <a:t>Repointed to the high-speed Python backend with charts.</a:t>
            </a:r>
          </a:p>
        </p:txBody>
      </p:sp>
      <p:pic>
        <p:nvPicPr>
          <p:cNvPr id="10" name="Picture 9" descr="image-5-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2860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MILESTONE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Development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Target completion: Mid-October 2026 · Monitored via Git &amp; GitHub.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01   ·   [Done]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Setup &amp; Environment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Virtual env, repo scaffolding, sample PDF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02   ·   [Done]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PDF Extractor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pdfplumber line &amp; table extraction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0D158"/>
                </a:solidFill>
              </a:defRPr>
            </a:pPr>
            <a:r>
              <a:t>03   ·   [Done]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Transaction Parser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65 transactions parsed; debits &amp; credits reconciled.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9F0A"/>
                </a:solidFill>
              </a:defRPr>
            </a:pPr>
            <a:r>
              <a:t>04   ·   [Next]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ML Categorizer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Heuristic keyword rules + TF-IDF classifier.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997FF"/>
                </a:solidFill>
              </a:defRPr>
            </a:pPr>
            <a:r>
              <a:t>05   ·   [Planned]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DB + FastAPI Backend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SQLAlchemy models and async API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840480"/>
            <a:ext cx="3474720" cy="16459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F5AF2"/>
                </a:solidFill>
              </a:defRPr>
            </a:pPr>
            <a:r>
              <a:t>06   ·   [Planned]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Analytics Dashboard</a:t>
            </a:r>
          </a:p>
          <a:p>
            <a:pPr>
              <a:defRPr sz="1000">
                <a:solidFill>
                  <a:srgbClr val="91919B"/>
                </a:solidFill>
              </a:defRPr>
            </a:pPr>
            <a:r>
              <a:t>Frontend UI connected to live FastAPI backend.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60720"/>
            <a:ext cx="10698480" cy="5486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64D2FF"/>
                </a:solidFill>
              </a:defRPr>
            </a:pPr>
            <a:r>
              <a:t>🎯 Target Delivery: Mid-October 2026   ·   Code repository: github.com/Missroy1905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TECHNICAL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Engineering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Real-world friction encountered during training and the pragmatic engineering remedies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F0A"/>
                </a:solidFill>
              </a:defRPr>
            </a:pPr>
            <a:r>
              <a:t>Challenge: PowerShell Execution Policy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Resolution: Adjusted execution policy scope for process to activate virtual environment without admin overrides.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4D2FF"/>
                </a:solidFill>
              </a:defRPr>
            </a:pPr>
            <a:r>
              <a:t>Challenge: Unicode Font Encoding in PDF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Resolution: Resolved ReportLab encoding errors by standardizing Type-1 font mappings for reliable statement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997FF"/>
                </a:solidFill>
              </a:defRPr>
            </a:pPr>
            <a:r>
              <a:t>Challenge: Non-Deterministic PDF Output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Resolution: Pinned creation date timestamps and metadata headers to produce byte-identical fixtures on every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F5AF2"/>
                </a:solidFill>
              </a:defRPr>
            </a:pPr>
            <a:r>
              <a:t>Challenge: Windows Git Config Conflict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Resolution: Isolated repository credentials using local Git configs (git config --local) to ensure clean pushes to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749808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0D158"/>
                </a:solidFill>
              </a:defRPr>
            </a:pPr>
            <a:r>
              <a:t>Challenge: Competing Extractor Prototypes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Resolution: Benchmarked multi-algorithm outputs and merged the most resilient bounding-box extraction logic into one tested module.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02920"/>
            <a:ext cx="2926080" cy="347472"/>
          </a:xfrm>
          <a:prstGeom prst="roundRect">
            <a:avLst/>
          </a:prstGeom>
          <a:solidFill>
            <a:srgbClr val="191E28"/>
          </a:solidFill>
          <a:ln w="12700"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defRPr sz="1000" b="1">
                <a:solidFill>
                  <a:srgbClr val="64D2FF"/>
                </a:solidFill>
                <a:latin typeface="Arial"/>
              </a:defRPr>
            </a:pPr>
            <a:r>
              <a:t>●  VISION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Future Scope &amp; Commercial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300">
                <a:solidFill>
                  <a:srgbClr val="91919B"/>
                </a:solidFill>
                <a:latin typeface="Arial"/>
              </a:defRPr>
            </a:pPr>
            <a:r>
              <a:t>Strategic enhancements to elevate SpendMind from an academic project into an enterprise financial utility.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57800" cy="1325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997FF"/>
                </a:solidFill>
              </a:defRPr>
            </a:pPr>
            <a:r>
              <a:t>Multi-Bank Format Support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Expand beyond HDFC to ingest statements from SBI, ICICI, Axis, Kotak, and credit card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1325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D2FF"/>
                </a:solidFill>
              </a:defRPr>
            </a:pPr>
            <a:r>
              <a:t>Adaptive Active Learning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Train the NLP model incrementally as users manually correct or verify merchant category classifications.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257800" cy="1325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F0A"/>
                </a:solidFill>
              </a:defRPr>
            </a:pPr>
            <a:r>
              <a:t>Predictive Insights &amp; Alerts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Automated notifications for recurring subscription spikes, unusual transaction amounts, and budget caps.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474720"/>
            <a:ext cx="5257800" cy="132588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F5AF2"/>
                </a:solidFill>
              </a:defRPr>
            </a:pPr>
            <a:r>
              <a:t>Cloud &amp; Multi-User Architecture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Containerization with Docker, PostgreSQL persistence, and secure multi-tenant user authentication.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0D158"/>
                </a:solidFill>
              </a:defRPr>
            </a:pPr>
            <a:r>
              <a:t>Tax &amp; ITR Audit Reporting</a:t>
            </a:r>
          </a:p>
          <a:p>
            <a:pPr>
              <a:defRPr sz="1100">
                <a:solidFill>
                  <a:srgbClr val="91919B"/>
                </a:solidFill>
              </a:defRPr>
            </a:pPr>
            <a:r>
              <a:t>Automated tax-deductible expenditure tagging (80C, medical insurance, business expenses) with exportable CSV and PDF audit reports directly aligned with Indian Income Tax Return filing standards.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1919B"/>
                </a:solidFill>
              </a:defRPr>
            </a:pPr>
            <a:r>
              <a:t>Floor open for technical review, architectural defense, and faculty inquiry.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4023360"/>
            <a:ext cx="2834640" cy="1005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D2FF"/>
                </a:solidFill>
              </a:defRPr>
            </a:pPr>
            <a:br/>
            <a:r>
              <a:t>Data Extraction Heuristics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4023360"/>
            <a:ext cx="2834640" cy="1005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D2FF"/>
                </a:solidFill>
              </a:defRPr>
            </a:pPr>
            <a:br/>
            <a:r>
              <a:t>TF-IDF &amp; NLP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023360"/>
            <a:ext cx="2834640" cy="1005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D2FF"/>
                </a:solidFill>
              </a:defRPr>
            </a:pPr>
            <a:br/>
            <a:r>
              <a:t>FastAPI &amp; SQLite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30D158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Somya Roy</a:t>
            </a:r>
            <a:br/>
            <a:r>
              <a:t>github.com/Missroy1905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389120"/>
            <a:ext cx="7589520" cy="1005840"/>
          </a:xfrm>
          <a:prstGeom prst="roundRect">
            <a:avLst/>
          </a:prstGeom>
          <a:solidFill>
            <a:srgbClr val="14161C"/>
          </a:solidFill>
          <a:ln w="12700">
            <a:solidFill>
              <a:srgbClr val="282C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1919B"/>
                </a:solidFill>
              </a:defRPr>
            </a:pPr>
            <a:br/>
            <a:r>
              <a:t>SpendMind — Financial Data Pipeline &amp; NLP-Based Transaction Categorization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